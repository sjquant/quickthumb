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1626"/>
              </a:gs>
              <a:gs pos="100000">
                <a:srgbClr val="122849"/>
              </a:gs>
            </a:gsLst>
            <a:lin ang="8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248650" y="-1657350"/>
            <a:ext cx="4953000" cy="4953000"/>
          </a:xfrm>
          <a:prstGeom prst="ellipse">
            <a:avLst/>
          </a:prstGeom>
          <a:solidFill>
            <a:srgbClr val="163358">
              <a:alpha val="3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71550" y="2057400"/>
            <a:ext cx="685800" cy="76200"/>
          </a:xfrm>
          <a:prstGeom prst="roundRect">
            <a:avLst>
              <a:gd name="adj" fmla="val 50000"/>
            </a:avLst>
          </a:prstGeom>
          <a:solidFill>
            <a:srgbClr val="B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71550" y="2400300"/>
            <a:ext cx="5162550" cy="2190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100" b="1" i="0">
                <a:solidFill>
                  <a:srgbClr val="7DD3FC"/>
                </a:solidFill>
                <a:latin typeface="Roboto"/>
              </a:rPr>
              <a:t>QUARTERLY BUSINESS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3086100"/>
            <a:ext cx="7086600" cy="19240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>
              <a:lnSpc>
                <a:spcPts val="7650"/>
              </a:lnSpc>
            </a:pPr>
            <a:r>
              <a:rPr sz="7800" b="1" i="0">
                <a:gradFill rotWithShape="1">
                  <a:gsLst>
                    <a:gs pos="0">
                      <a:srgbClr val="B7FE00"/>
                    </a:gs>
                    <a:gs pos="100000">
                      <a:srgbClr val="7DD3FB"/>
                    </a:gs>
                  </a:gsLst>
                  <a:lin ang="1200000" scaled="0"/>
                </a:gradFill>
                <a:effectLst>
                  <a:outerShdw blurRad="419100" dist="95250" dir="5400000" rotWithShape="0">
                    <a:srgbClr val="000000">
                      <a:alpha val="40000"/>
                    </a:srgbClr>
                  </a:outerShdw>
                </a:effectLst>
                <a:latin typeface="Roboto"/>
              </a:rPr>
              <a:t>Building what</a:t>
            </a:r>
          </a:p>
          <a:p>
            <a:pPr algn="l">
              <a:lnSpc>
                <a:spcPts val="7650"/>
              </a:lnSpc>
            </a:pPr>
            <a:r>
              <a:rPr sz="7800" b="1" i="0">
                <a:gradFill rotWithShape="1">
                  <a:gsLst>
                    <a:gs pos="0">
                      <a:srgbClr val="B7FE00"/>
                    </a:gs>
                    <a:gs pos="100000">
                      <a:srgbClr val="7DD3FB"/>
                    </a:gs>
                  </a:gsLst>
                  <a:lin ang="1200000" scaled="0"/>
                </a:gradFill>
                <a:effectLst>
                  <a:outerShdw blurRad="419100" dist="95250" dir="5400000" rotWithShape="0">
                    <a:srgbClr val="000000">
                      <a:alpha val="40000"/>
                    </a:srgbClr>
                  </a:outerShdw>
                </a:effectLst>
                <a:latin typeface="Roboto"/>
              </a:rPr>
              <a:t>actually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5619750"/>
            <a:ext cx="4486275" cy="2857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550" b="0" i="0">
                <a:solidFill>
                  <a:srgbClr val="8FA3B8"/>
                </a:solidFill>
                <a:latin typeface="Roboto"/>
              </a:rPr>
              <a:t>FY25  ·  Q3  ·  Product &amp; Growth</a:t>
            </a:r>
          </a:p>
        </p:txBody>
      </p:sp>
    </p:spTree>
  </p:cSld>
  <p:clrMapOvr>
    <a:masterClrMapping/>
  </p:clrMapOvr>
  <p:transition xmlns:p14="http://schemas.microsoft.com/office/powerpoint/2010/main" spd="fast" advClick="1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6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1626"/>
              </a:gs>
              <a:gs pos="100000">
                <a:srgbClr val="122849"/>
              </a:gs>
            </a:gsLst>
            <a:lin ang="8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71550" y="1028700"/>
            <a:ext cx="685800" cy="76200"/>
          </a:xfrm>
          <a:prstGeom prst="roundRect">
            <a:avLst>
              <a:gd name="adj" fmla="val 50000"/>
            </a:avLst>
          </a:prstGeom>
          <a:solidFill>
            <a:srgbClr val="B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1550" y="1295400"/>
            <a:ext cx="2333625" cy="6572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5400" b="1" i="0">
                <a:solidFill>
                  <a:srgbClr val="F8FAFC"/>
                </a:solidFill>
                <a:latin typeface="Robot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5375" y="2543175"/>
            <a:ext cx="600075" cy="4000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200" b="1" i="0">
                <a:solidFill>
                  <a:srgbClr val="B8FF00"/>
                </a:solidFill>
                <a:latin typeface="Robot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76450" y="2505075"/>
            <a:ext cx="3962400" cy="4762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900" b="0" i="0">
                <a:solidFill>
                  <a:srgbClr val="F8FAFC"/>
                </a:solidFill>
                <a:latin typeface="Roboto"/>
              </a:rPr>
              <a:t>Revenue &amp; growth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5375" y="3495675"/>
            <a:ext cx="600075" cy="4000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200" b="1" i="0">
                <a:solidFill>
                  <a:srgbClr val="B8FF00"/>
                </a:solidFill>
                <a:latin typeface="Roboto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76450" y="3457575"/>
            <a:ext cx="3771900" cy="4762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900" b="0" i="0">
                <a:solidFill>
                  <a:srgbClr val="F8FAFC"/>
                </a:solidFill>
                <a:latin typeface="Roboto"/>
              </a:rPr>
              <a:t>What we shipped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5375" y="4457700"/>
            <a:ext cx="600075" cy="4000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200" b="1" i="0">
                <a:solidFill>
                  <a:srgbClr val="B8FF00"/>
                </a:solidFill>
                <a:latin typeface="Roboto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6450" y="4467225"/>
            <a:ext cx="3657600" cy="3810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900" b="0" i="0">
                <a:solidFill>
                  <a:srgbClr val="F8FAFC"/>
                </a:solidFill>
                <a:latin typeface="Roboto"/>
              </a:rPr>
              <a:t>What we learned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5375" y="5419725"/>
            <a:ext cx="600075" cy="4000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200" b="1" i="0">
                <a:solidFill>
                  <a:srgbClr val="B8FF00"/>
                </a:solidFill>
                <a:latin typeface="Roboto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6450" y="5381625"/>
            <a:ext cx="3905250" cy="47625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900" b="0" i="0">
                <a:solidFill>
                  <a:srgbClr val="F8FAFC"/>
                </a:solidFill>
                <a:latin typeface="Roboto"/>
              </a:rPr>
              <a:t>Where we go next</a:t>
            </a:r>
          </a:p>
        </p:txBody>
      </p:sp>
    </p:spTree>
  </p:cSld>
  <p:clrMapOvr>
    <a:masterClrMapping/>
  </p:clrMapOvr>
  <p:transition xmlns:p14="http://schemas.microsoft.com/office/powerpoint/2010/main" spd="fast" advClick="1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7140C"/>
              </a:gs>
              <a:gs pos="100000">
                <a:srgbClr val="0E291A"/>
              </a:gs>
            </a:gsLst>
            <a:lin ang="8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819525" y="1371600"/>
            <a:ext cx="4562475" cy="2762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250" b="1" i="0">
                <a:solidFill>
                  <a:srgbClr val="7DD3FC"/>
                </a:solidFill>
                <a:latin typeface="Roboto"/>
              </a:rPr>
              <a:t>Active teams, year over year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28900" y="2352675"/>
            <a:ext cx="6924675" cy="20859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2500" b="1" i="0">
                <a:gradFill rotWithShape="1">
                  <a:gsLst>
                    <a:gs pos="0">
                      <a:srgbClr val="B7FE00"/>
                    </a:gs>
                    <a:gs pos="100000">
                      <a:srgbClr val="5EEAD3"/>
                    </a:gs>
                  </a:gsLst>
                  <a:lin ang="1200000" scaled="0"/>
                </a:gradFill>
                <a:effectLst>
                  <a:outerShdw blurRad="419100" dist="95250" dir="5400000" rotWithShape="0">
                    <a:srgbClr val="000000">
                      <a:alpha val="40000"/>
                    </a:srgbClr>
                  </a:outerShdw>
                </a:effectLst>
                <a:latin typeface="Roboto"/>
              </a:rPr>
              <a:t>+38%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05050" y="5410200"/>
            <a:ext cx="1295400" cy="4286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500" b="1" i="0">
                <a:solidFill>
                  <a:srgbClr val="7DD3FC"/>
                </a:solidFill>
                <a:latin typeface="Roboto"/>
              </a:rPr>
              <a:t>2.4M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0" y="5476875"/>
            <a:ext cx="1914525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8FA3B8"/>
                </a:solidFill>
                <a:latin typeface="Roboto"/>
              </a:rPr>
              <a:t>monthly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34075" y="5543550"/>
            <a:ext cx="95250" cy="1619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3000" b="0" i="0">
                <a:solidFill>
                  <a:srgbClr val="33506E"/>
                </a:solidFill>
                <a:latin typeface="Roboto"/>
              </a:rPr>
              <a:t>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8875" y="5410200"/>
            <a:ext cx="1285875" cy="42862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4500" b="1" i="0">
                <a:solidFill>
                  <a:srgbClr val="7DD3FC"/>
                </a:solidFill>
                <a:latin typeface="Roboto"/>
              </a:rPr>
              <a:t>+120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34300" y="5476875"/>
            <a:ext cx="2152650" cy="295275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l"/>
            <a:r>
              <a:rPr sz="2400" b="0" i="0">
                <a:solidFill>
                  <a:srgbClr val="8FA3B8"/>
                </a:solidFill>
                <a:latin typeface="Roboto"/>
              </a:rPr>
              <a:t>new enterprises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600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3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rotWithShape="1">
            <a:gsLst>
              <a:gs pos="0">
                <a:srgbClr val="0A1626"/>
              </a:gs>
              <a:gs pos="100000">
                <a:srgbClr val="122849"/>
              </a:gs>
            </a:gsLst>
            <a:lin ang="81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019175" y="3552825"/>
            <a:ext cx="4953000" cy="4953000"/>
          </a:xfrm>
          <a:prstGeom prst="ellipse">
            <a:avLst/>
          </a:prstGeom>
          <a:solidFill>
            <a:srgbClr val="163358">
              <a:alpha val="34901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753100" y="2562225"/>
            <a:ext cx="685800" cy="76200"/>
          </a:xfrm>
          <a:prstGeom prst="roundRect">
            <a:avLst>
              <a:gd name="adj" fmla="val 50000"/>
            </a:avLst>
          </a:prstGeom>
          <a:solidFill>
            <a:srgbClr val="B8F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33700" y="2962275"/>
            <a:ext cx="6334125" cy="8763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9000" b="1" i="0">
                <a:gradFill rotWithShape="1">
                  <a:gsLst>
                    <a:gs pos="0">
                      <a:srgbClr val="B7FE02"/>
                    </a:gs>
                    <a:gs pos="100000">
                      <a:srgbClr val="7DD3F9"/>
                    </a:gs>
                  </a:gsLst>
                  <a:lin ang="1200000" scaled="0"/>
                </a:gradFill>
                <a:effectLst>
                  <a:outerShdw blurRad="419100" dist="95250" dir="5400000" rotWithShape="0">
                    <a:srgbClr val="000000">
                      <a:alpha val="40000"/>
                    </a:srgbClr>
                  </a:outerShdw>
                </a:effectLst>
                <a:latin typeface="Roboto"/>
              </a:rPr>
              <a:t>Let's build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52750" y="4391025"/>
            <a:ext cx="6296025" cy="304800"/>
          </a:xfrm>
          <a:prstGeom prst="rect">
            <a:avLst/>
          </a:prstGeom>
          <a:noFill/>
        </p:spPr>
        <p:txBody>
          <a:bodyPr wrap="none" anchor="t" lIns="0" rIns="0" tIns="0" bIns="0">
            <a:noAutofit/>
          </a:bodyPr>
          <a:lstStyle/>
          <a:p>
            <a:pPr algn="ctr"/>
            <a:r>
              <a:rPr sz="2700" b="0" i="0">
                <a:solidFill>
                  <a:srgbClr val="8FA3B8"/>
                </a:solidFill>
                <a:latin typeface="Roboto"/>
              </a:rPr>
              <a:t>Questions, ideas, and bold bets welcome.</a:t>
            </a:r>
          </a:p>
        </p:txBody>
      </p:sp>
    </p:spTree>
  </p:cSld>
  <p:clrMapOvr>
    <a:masterClrMapping/>
  </p:clrMapOvr>
  <p:transition xmlns:p14="http://schemas.microsoft.com/office/powerpoint/2010/main" spd="med" advClick="1" p14:dur="1000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