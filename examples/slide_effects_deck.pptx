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5400" y="2486025"/>
            <a:ext cx="9591675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8250" b="1" i="0">
                <a:solidFill>
                  <a:srgbClr val="B8FF00"/>
                </a:solidFill>
                <a:effectLst>
                  <a:outerShdw blurRad="342900" dist="76200" dir="5400000" rotWithShape="0">
                    <a:srgbClr val="000000">
                      <a:alpha val="53333"/>
                    </a:srgbClr>
                  </a:outerShdw>
                </a:effectLst>
                <a:latin typeface="Roboto"/>
              </a:rPr>
              <a:t>QUARTERLY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5300" y="4029075"/>
            <a:ext cx="171450" cy="171450"/>
          </a:xfrm>
          <a:prstGeom prst="roundRect">
            <a:avLst>
              <a:gd name="adj" fmla="val 50000"/>
            </a:avLst>
          </a:prstGeom>
          <a:solidFill>
            <a:srgbClr val="8C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29150" y="3952875"/>
            <a:ext cx="3257550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000" b="0" i="0">
                <a:solidFill>
                  <a:srgbClr val="8CE1FF"/>
                </a:solidFill>
                <a:latin typeface="Roboto"/>
              </a:rPr>
              <a:t>FY25 · Q3 · Product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1550" y="1095375"/>
            <a:ext cx="2333625" cy="657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Roboto"/>
              </a:rP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" y="2505075"/>
            <a:ext cx="4638675" cy="628650"/>
          </a:xfrm>
          <a:prstGeom prst="roundRect">
            <a:avLst>
              <a:gd name="adj" fmla="val 15151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2600325"/>
            <a:ext cx="4257675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8CE1FF"/>
                </a:solidFill>
                <a:latin typeface="Roboto"/>
              </a:rPr>
              <a:t>1.  Revenue &amp; growth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8700" y="3400425"/>
            <a:ext cx="3771900" cy="628650"/>
          </a:xfrm>
          <a:prstGeom prst="roundRect">
            <a:avLst>
              <a:gd name="adj" fmla="val 15151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3495675"/>
            <a:ext cx="3390900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oboto"/>
              </a:rPr>
              <a:t>2.  What shipped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" y="4286250"/>
            <a:ext cx="4362450" cy="533400"/>
          </a:xfrm>
          <a:prstGeom prst="roundRect">
            <a:avLst>
              <a:gd name="adj" fmla="val 17857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200" y="4381500"/>
            <a:ext cx="3981450" cy="342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8CE1FF"/>
                </a:solidFill>
                <a:latin typeface="Roboto"/>
              </a:rPr>
              <a:t>3.  What we learned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8700" y="5181600"/>
            <a:ext cx="3514725" cy="609600"/>
          </a:xfrm>
          <a:prstGeom prst="roundRect">
            <a:avLst>
              <a:gd name="adj" fmla="val 15625"/>
            </a:avLst>
          </a:prstGeom>
          <a:solidFill>
            <a:srgbClr val="133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5276850"/>
            <a:ext cx="3133725" cy="4191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oboto"/>
              </a:rPr>
              <a:t>4.  Next quarter</a:t>
            </a:r>
          </a:p>
        </p:txBody>
      </p:sp>
    </p:spTree>
  </p:cSld>
  <p:clrMapOvr>
    <a:masterClrMapping/>
  </p:clrMapOvr>
  <p:transition xmlns:p14="http://schemas.microsoft.com/office/powerpoint/2010/main" spd="fast" advClick="1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324225" y="2133600"/>
            <a:ext cx="5543550" cy="16859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18000" b="1" i="0">
                <a:solidFill>
                  <a:srgbClr val="B8FF00"/>
                </a:solidFill>
                <a:latin typeface="Roboto"/>
              </a:rPr>
              <a:t>+38%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825" y="4638675"/>
            <a:ext cx="50958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300" b="0" i="0">
                <a:solidFill>
                  <a:srgbClr val="D7E8C4"/>
                </a:solidFill>
                <a:latin typeface="Roboto"/>
              </a:rPr>
              <a:t>year-over-year active teams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6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57550" y="2647950"/>
            <a:ext cx="5676900" cy="962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Roboto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19600" y="4095750"/>
            <a:ext cx="3352800" cy="361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000" b="0" i="0">
                <a:solidFill>
                  <a:srgbClr val="8CE1FF"/>
                </a:solidFill>
                <a:latin typeface="Roboto"/>
              </a:rPr>
              <a:t>thanks for watching</a:t>
            </a:r>
          </a:p>
        </p:txBody>
      </p:sp>
    </p:spTree>
  </p:cSld>
  <p:clrMapOvr>
    <a:masterClrMapping/>
  </p:clrMapOvr>
  <p:transition xmlns:p14="http://schemas.microsoft.com/office/powerpoint/2010/main" spd="med" advClick="1" p14:dur="1000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