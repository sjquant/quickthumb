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2762250"/>
            <a:ext cx="16383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01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7058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F4F9A"/>
                </a:solidFill>
                <a:latin typeface="Pretendard"/>
              </a:rPr>
              <a:t>NEW · PERSONAL FITNESS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5572125" cy="1924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725"/>
              </a:lnSpc>
            </a:pPr>
            <a:r>
              <a:rPr sz="8100" b="0" i="0">
                <a:solidFill>
                  <a:srgbClr val="FFFFFF"/>
                </a:solidFill>
                <a:latin typeface="Pretendard"/>
              </a:rPr>
              <a:t>내 몸의 리듬을</a:t>
            </a:r>
          </a:p>
          <a:p>
            <a:pPr algn="l">
              <a:lnSpc>
                <a:spcPts val="7725"/>
              </a:lnSpc>
            </a:pPr>
            <a:r>
              <a:rPr sz="8100" b="0" i="0">
                <a:solidFill>
                  <a:srgbClr val="FFFFFF"/>
                </a:solidFill>
                <a:latin typeface="Pretendard"/>
              </a:rPr>
              <a:t>다시 만나다.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7486650" cy="1047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심박부터 회복까지, 오늘의 몸을 한눈에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읽습니다.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268605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F4F9A"/>
                </a:solidFill>
                <a:latin typeface="Pretendard"/>
              </a:rPr>
              <a:t>●  실시간 심박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6575" y="9696450"/>
            <a:ext cx="11906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구간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3086100" cy="1228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FF4F9A">
                      <a:alpha val="29803"/>
                    </a:srgbClr>
                  </a:glow>
                </a:effectLst>
                <a:latin typeface="Pretendard"/>
              </a:rPr>
              <a:t>148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3000" y="11715750"/>
            <a:ext cx="1076325" cy="3524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F4F9A"/>
                </a:solidFill>
                <a:latin typeface="Pretendard"/>
              </a:rPr>
              <a:t>BPM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763500"/>
            <a:ext cx="3429000" cy="4095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심박수  ·  운동 강도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593407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GYEOL · 나를 읽는 피트니스 OS</a:t>
            </a:r>
          </a:p>
        </p:txBody>
      </p:sp>
    </p:spTree>
  </p:cSld>
  <p:clrMapOvr>
    <a:masterClrMapping/>
  </p:clrMapOvr>
  <p:transition xmlns:p14="http://schemas.microsoft.com/office/powerpoint/2010/main" spd="med" advClick="1" advTm="4500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8950" y="2762250"/>
            <a:ext cx="169545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02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2562225" cy="4286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9A6BFF"/>
                </a:solidFill>
                <a:latin typeface="Pretendard"/>
              </a:rPr>
              <a:t>꾸준함의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4772025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825"/>
              </a:lnSpc>
            </a:pPr>
            <a:r>
              <a:rPr sz="7200" b="0" i="0">
                <a:solidFill>
                  <a:srgbClr val="FFFFFF"/>
                </a:solidFill>
                <a:latin typeface="Pretendard"/>
              </a:rPr>
              <a:t>의지보다 먼저</a:t>
            </a:r>
          </a:p>
          <a:p>
            <a:pPr algn="l">
              <a:lnSpc>
                <a:spcPts val="6825"/>
              </a:lnSpc>
            </a:pPr>
            <a:r>
              <a:rPr sz="7200" b="0" i="0">
                <a:solidFill>
                  <a:srgbClr val="FFFFFF"/>
                </a:solidFill>
                <a:latin typeface="Pretendard"/>
              </a:rPr>
              <a:t>필요한 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5514975" cy="1047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피드백이 늦으면 마음도 금세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멀어집니다.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334500"/>
            <a:ext cx="7620000" cy="1857375"/>
          </a:xfrm>
          <a:prstGeom prst="roundRect">
            <a:avLst>
              <a:gd name="adj" fmla="val 21538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3500" y="9858375"/>
            <a:ext cx="255270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평균 이탈 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9825" y="10258425"/>
            <a:ext cx="1857375" cy="714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6150" b="0" i="0">
                <a:solidFill>
                  <a:srgbClr val="9A6BFF"/>
                </a:solidFill>
                <a:latin typeface="Pretendard"/>
              </a:rPr>
              <a:t>3일째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11430000"/>
            <a:ext cx="7620000" cy="1857375"/>
          </a:xfrm>
          <a:prstGeom prst="roundRect">
            <a:avLst>
              <a:gd name="adj" fmla="val 21538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33500" y="11953875"/>
            <a:ext cx="24479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실시간 피드백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0825" y="11753850"/>
            <a:ext cx="1476375" cy="657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6750" b="0" i="0">
                <a:solidFill>
                  <a:srgbClr val="FF4F9A"/>
                </a:solidFill>
                <a:latin typeface="Pretendard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680085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늦은 피드백은 움직일 마음을 놓칩니다.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7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7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2762250"/>
            <a:ext cx="17145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03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30765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5DE8FF"/>
                </a:solidFill>
                <a:latin typeface="Pretendard"/>
              </a:rPr>
              <a:t>MEET GYEOL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6734175" cy="19240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725"/>
              </a:lnSpc>
            </a:pPr>
            <a:r>
              <a:rPr sz="8100" b="0" i="0">
                <a:solidFill>
                  <a:srgbClr val="FFFFFF"/>
                </a:solidFill>
                <a:latin typeface="Pretendard"/>
              </a:rPr>
              <a:t>흩어진 신호가</a:t>
            </a:r>
          </a:p>
          <a:p>
            <a:pPr algn="l">
              <a:lnSpc>
                <a:spcPts val="7725"/>
              </a:lnSpc>
            </a:pPr>
            <a:r>
              <a:rPr sz="8100" b="0" i="0">
                <a:solidFill>
                  <a:srgbClr val="FFFFFF"/>
                </a:solidFill>
                <a:latin typeface="Pretendard"/>
              </a:rPr>
              <a:t>하나의 리듬으로.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496050" cy="1038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복잡한 몸의 신호를 오늘의 점수로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바꿉니다.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166687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DE8FF"/>
                </a:solidFill>
                <a:latin typeface="Pretendard"/>
              </a:rPr>
              <a:t>회복 점수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10401300"/>
            <a:ext cx="2257425" cy="1228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5DE8FF">
                      <a:alpha val="27843"/>
                    </a:srgbClr>
                  </a:glow>
                </a:effectLst>
                <a:latin typeface="Pretendard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1715750"/>
            <a:ext cx="120967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5DE8FF"/>
                </a:solidFill>
                <a:latin typeface="Pretendard"/>
              </a:rPr>
              <a:t>/ 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12192000"/>
            <a:ext cx="3819525" cy="8572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수면 92 · 에너지 81</a:t>
            </a:r>
          </a:p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스트레스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4249400"/>
            <a:ext cx="552450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오늘의 몸을 한눈에 읽어보세요.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7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81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0850" y="2762250"/>
            <a:ext cx="173355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04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35147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F4F9A"/>
                </a:solidFill>
                <a:latin typeface="Pretendard"/>
              </a:rPr>
              <a:t>01 · LIVE SYNC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5524500" cy="1647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75"/>
              </a:lnSpc>
            </a:pPr>
            <a:r>
              <a:rPr sz="6975" b="0" i="0">
                <a:solidFill>
                  <a:srgbClr val="FFFFFF"/>
                </a:solidFill>
                <a:latin typeface="Pretendard"/>
              </a:rPr>
              <a:t>움직이는 순간을</a:t>
            </a:r>
          </a:p>
          <a:p>
            <a:pPr algn="l">
              <a:lnSpc>
                <a:spcPts val="6675"/>
              </a:lnSpc>
            </a:pPr>
            <a:r>
              <a:rPr sz="6975" b="0" i="0">
                <a:solidFill>
                  <a:srgbClr val="FFFFFF"/>
                </a:solidFill>
                <a:latin typeface="Pretendard"/>
              </a:rPr>
              <a:t>놓치지 않게.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924675" cy="1047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심박 구간과 운동 강도를 실시간으로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읽습니다.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20669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F4F9A"/>
                </a:solidFill>
                <a:latin typeface="Pretendard"/>
              </a:rPr>
              <a:t>실시간 심박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9825" y="9696450"/>
            <a:ext cx="1857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SYNCED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3009900" cy="1209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FF4F9A">
                      <a:alpha val="27843"/>
                    </a:srgbClr>
                  </a:glow>
                </a:effectLst>
                <a:latin typeface="Pretendard"/>
              </a:rPr>
              <a:t>142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11563350"/>
            <a:ext cx="1076325" cy="3524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FF4F9A"/>
                </a:solidFill>
                <a:latin typeface="Pretendard"/>
              </a:rPr>
              <a:t>BPM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192000"/>
            <a:ext cx="472440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워밍업 · 지방 연소 · 유산소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7315200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APPLE WATCH · GALAXY WATCH</a:t>
            </a:r>
          </a:p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연동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2762250"/>
            <a:ext cx="17145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05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34385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5DE8FF"/>
                </a:solidFill>
                <a:latin typeface="Pretendard"/>
              </a:rPr>
              <a:t>02 · AI COACH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5153025" cy="16859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오늘의 속도는</a:t>
            </a:r>
          </a:p>
          <a:p>
            <a:pPr algn="l">
              <a:lnSpc>
                <a:spcPts val="6750"/>
              </a:lnSpc>
            </a:pPr>
            <a:r>
              <a:rPr sz="7125" b="0" i="0">
                <a:solidFill>
                  <a:srgbClr val="FFFFFF"/>
                </a:solidFill>
                <a:latin typeface="Pretendard"/>
              </a:rPr>
              <a:t>몸이 정하니까.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067425" cy="1047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회복 상태에 맞춰 시간과 강도를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조정합니다.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24479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DE8FF"/>
                </a:solidFill>
                <a:latin typeface="Pretendard"/>
              </a:rPr>
              <a:t>오늘의 운동량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9696450"/>
            <a:ext cx="12954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AUTO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2238375" cy="1228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5DE8FF">
                      <a:alpha val="27843"/>
                    </a:srgbClr>
                  </a:glow>
                </a:effectLst>
                <a:latin typeface="Pretendard"/>
              </a:rPr>
              <a:t>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750" y="11563350"/>
            <a:ext cx="485775" cy="3714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5DE8FF"/>
                </a:solidFill>
                <a:latin typeface="Pretendard"/>
              </a:rPr>
              <a:t>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192000"/>
            <a:ext cx="42386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C7BDD9"/>
                </a:solidFill>
                <a:latin typeface="Pretendard"/>
              </a:rPr>
              <a:t>24 MIN · MODERATE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562927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매일 달라지는 나에게 맞춘 코칭.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0375" y="2762250"/>
            <a:ext cx="172402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06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48196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C9FF63"/>
                </a:solidFill>
                <a:latin typeface="Pretendard"/>
              </a:rPr>
              <a:t>03 · SMART STREAK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6543675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825"/>
              </a:lnSpc>
            </a:pPr>
            <a:r>
              <a:rPr sz="7200" b="0" i="0">
                <a:solidFill>
                  <a:srgbClr val="FFFFFF"/>
                </a:solidFill>
                <a:latin typeface="Pretendard"/>
              </a:rPr>
              <a:t>작은 사흘이</a:t>
            </a:r>
          </a:p>
          <a:p>
            <a:pPr algn="l">
              <a:lnSpc>
                <a:spcPts val="6825"/>
              </a:lnSpc>
            </a:pPr>
            <a:r>
              <a:rPr sz="7200" b="0" i="0">
                <a:solidFill>
                  <a:srgbClr val="FFFFFF"/>
                </a:solidFill>
                <a:latin typeface="Pretendard"/>
              </a:rPr>
              <a:t>스물하루가 되도록.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5943600" cy="1047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작은 성공을 오래가는 습관으로</a:t>
            </a:r>
          </a:p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연결합니다.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191625"/>
            <a:ext cx="7620000" cy="4286250"/>
          </a:xfrm>
          <a:prstGeom prst="roundRect">
            <a:avLst>
              <a:gd name="adj" fmla="val 9333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9696450"/>
            <a:ext cx="1171575" cy="4095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꾸준함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0325" y="9696450"/>
            <a:ext cx="166687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최고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401300"/>
            <a:ext cx="1876425" cy="1209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200" b="0" i="0">
                <a:solidFill>
                  <a:srgbClr val="FFFFFF"/>
                </a:solidFill>
                <a:effectLst>
                  <a:glow rad="571500">
                    <a:srgbClr val="C9FF63">
                      <a:alpha val="23921"/>
                    </a:srgbClr>
                  </a:glow>
                </a:effectLst>
                <a:latin typeface="Pretendard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5750" y="11715750"/>
            <a:ext cx="1400175" cy="447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900" b="0" i="0">
                <a:solidFill>
                  <a:srgbClr val="C9FF63"/>
                </a:solidFill>
                <a:latin typeface="Pretendard"/>
              </a:rPr>
              <a:t>일 연속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2763500"/>
            <a:ext cx="4124325" cy="3714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●  ●  ●  ●  ●  ●  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630555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꾸준함이 보이면 습관은 계속됩니다.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7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81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403653">
              <a:alpha val="698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8950" y="2762250"/>
            <a:ext cx="169545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07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4267200" cy="4667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9A6BFF"/>
                </a:solidFill>
                <a:latin typeface="Pretendard"/>
              </a:rPr>
              <a:t>4.9 · 2,841개의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4610100" cy="1771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125"/>
              </a:lnSpc>
            </a:pPr>
            <a:r>
              <a:rPr sz="7500" b="0" i="0">
                <a:solidFill>
                  <a:srgbClr val="FFFFFF"/>
                </a:solidFill>
                <a:latin typeface="Pretendard"/>
              </a:rPr>
              <a:t>조금 더 오래,</a:t>
            </a:r>
          </a:p>
          <a:p>
            <a:pPr algn="l">
              <a:lnSpc>
                <a:spcPts val="7125"/>
              </a:lnSpc>
            </a:pPr>
            <a:r>
              <a:rPr sz="7500" b="0" i="0">
                <a:solidFill>
                  <a:srgbClr val="FFFFFF"/>
                </a:solidFill>
                <a:latin typeface="Pretendard"/>
              </a:rPr>
              <a:t>조금 더 멀리.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7600950" cy="447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결과 함께 만든 변화는 숫자로 남습니다.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048750"/>
            <a:ext cx="7620000" cy="4429125"/>
          </a:xfrm>
          <a:prstGeom prst="roundRect">
            <a:avLst>
              <a:gd name="adj" fmla="val 9032"/>
            </a:avLst>
          </a:prstGeom>
          <a:solidFill>
            <a:srgbClr val="12101E"/>
          </a:solidFill>
          <a:ln w="19050">
            <a:solidFill>
              <a:srgbClr val="3A304E"/>
            </a:solidFill>
          </a:ln>
          <a:effectLst>
            <a:outerShdw blurRad="647700" dist="228600" dir="5400000" rotWithShape="0">
              <a:srgbClr val="000000">
                <a:alpha val="50196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3500" y="9563100"/>
            <a:ext cx="215265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확인된 후기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3250" y="9486900"/>
            <a:ext cx="1123950" cy="5048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5400" b="0" i="0">
                <a:solidFill>
                  <a:srgbClr val="9A6BFF"/>
                </a:solidFill>
                <a:latin typeface="Pretendard"/>
              </a:rPr>
              <a:t>4.9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0210800"/>
            <a:ext cx="230505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9FF63"/>
                </a:solidFill>
                <a:latin typeface="Pretendard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10858500"/>
            <a:ext cx="4724400" cy="12858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475"/>
              </a:lnSpc>
            </a:pPr>
            <a:r>
              <a:rPr sz="5100" b="0" i="0">
                <a:solidFill>
                  <a:srgbClr val="FFFFFF"/>
                </a:solidFill>
                <a:latin typeface="Pretendard"/>
              </a:rPr>
              <a:t>“처음으로 5KM를</a:t>
            </a:r>
          </a:p>
          <a:p>
            <a:pPr algn="l">
              <a:lnSpc>
                <a:spcPts val="5475"/>
              </a:lnSpc>
            </a:pPr>
            <a:r>
              <a:rPr sz="5100" b="0" i="0">
                <a:solidFill>
                  <a:srgbClr val="FFFFFF"/>
                </a:solidFill>
                <a:latin typeface="Pretendard"/>
              </a:rPr>
              <a:t>끝까지 달렸어요.”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12744450"/>
            <a:ext cx="37052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C7BDD9"/>
                </a:solidFill>
                <a:latin typeface="Pretendard"/>
              </a:rPr>
              <a:t>베타 테스터  ·  8주차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49400"/>
            <a:ext cx="64103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다음 기록은 오늘 여기서 시작됩니다.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7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81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375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8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81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gradFill rotWithShape="1">
            <a:gsLst>
              <a:gs pos="0">
                <a:srgbClr val="0A0712"/>
              </a:gs>
              <a:gs pos="100000">
                <a:srgbClr val="0E0C1B"/>
              </a:gs>
            </a:gsLst>
            <a:lin ang="9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144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64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84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04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6250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452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86550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4F9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8575" y="2324100"/>
            <a:ext cx="866775" cy="76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62250"/>
            <a:ext cx="16859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8F4FF"/>
                </a:solidFill>
                <a:latin typeface="Roboto"/>
              </a:rPr>
              <a:t>GYEOL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2762250"/>
            <a:ext cx="17145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C7BDD9"/>
                </a:solidFill>
                <a:latin typeface="Pretendard"/>
              </a:rPr>
              <a:t>08 /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05250"/>
            <a:ext cx="54768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F4F9A"/>
                </a:solidFill>
                <a:latin typeface="Pretendard"/>
              </a:rPr>
              <a:t>GYEOL · START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62500"/>
            <a:ext cx="7191375" cy="2209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850"/>
              </a:lnSpc>
            </a:pPr>
            <a:r>
              <a:rPr sz="9300" b="0" i="0">
                <a:solidFill>
                  <a:srgbClr val="FFFFFF"/>
                </a:solidFill>
                <a:latin typeface="Pretendard"/>
              </a:rPr>
              <a:t>오늘, 다시 시작</a:t>
            </a:r>
          </a:p>
          <a:p>
            <a:pPr algn="l">
              <a:lnSpc>
                <a:spcPts val="8850"/>
              </a:lnSpc>
            </a:pPr>
            <a:r>
              <a:rPr sz="9300" b="0" i="0">
                <a:solidFill>
                  <a:srgbClr val="FFFFFF"/>
                </a:solidFill>
                <a:latin typeface="Pretendard"/>
              </a:rPr>
              <a:t>나답게 움직이기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7667625"/>
            <a:ext cx="6743700" cy="4476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3900" b="0" i="0">
                <a:solidFill>
                  <a:srgbClr val="C7BDD9"/>
                </a:solidFill>
                <a:latin typeface="Pretendard"/>
              </a:rPr>
              <a:t>내 몸을 이해하는 가장 선명한 방법.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9620250"/>
            <a:ext cx="7620000" cy="1257300"/>
          </a:xfrm>
          <a:prstGeom prst="roundRect">
            <a:avLst>
              <a:gd name="adj" fmla="val 50000"/>
            </a:avLst>
          </a:prstGeom>
          <a:solidFill>
            <a:srgbClr val="FF4F9A"/>
          </a:solidFill>
          <a:ln>
            <a:noFill/>
          </a:ln>
          <a:effectLst>
            <a:glow rad="571500">
              <a:srgbClr val="FFFFFF">
                <a:alpha val="17647"/>
              </a:srgbClr>
            </a:glow>
            <a:outerShdw blurRad="571500" dist="209550" dir="5400000" rotWithShape="0">
              <a:srgbClr val="3A0C4E">
                <a:alpha val="43921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57525" y="10010775"/>
            <a:ext cx="3324225" cy="485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4200" b="0" i="0">
                <a:solidFill>
                  <a:srgbClr val="FFFFFF"/>
                </a:solidFill>
                <a:latin typeface="Pretendard"/>
              </a:rPr>
              <a:t>무료로 시작하기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11620500"/>
            <a:ext cx="5905500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00"/>
              </a:lnSpc>
            </a:pPr>
            <a:r>
              <a:rPr sz="3600" b="0" i="0">
                <a:solidFill>
                  <a:srgbClr val="F8F4FF"/>
                </a:solidFill>
                <a:latin typeface="Pretendard"/>
              </a:rPr>
              <a:t>평점 4.9 · 7일 무료 · 언제든 해지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3811250"/>
            <a:ext cx="3876675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050" b="0" i="0">
                <a:solidFill>
                  <a:srgbClr val="F8F4FF"/>
                </a:solidFill>
                <a:latin typeface="Pretendard"/>
              </a:rPr>
              <a:t>GYEOL.APP  ↗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031" p14:dur="469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0" fill="hold" grpId="0" nodeType="click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28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2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8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37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81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81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