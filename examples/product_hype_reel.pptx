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381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Roboto"/>
              </a:rP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43300"/>
            <a:ext cx="5695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PERSONAL FITNESS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86250"/>
            <a:ext cx="7810500" cy="15049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600"/>
              </a:lnSpc>
            </a:pPr>
            <a:r>
              <a:rPr sz="7275" b="0" i="0">
                <a:solidFill>
                  <a:srgbClr val="F5F5F7"/>
                </a:solidFill>
                <a:latin typeface="Pretendard"/>
              </a:rPr>
              <a:t>TRAINING,</a:t>
            </a:r>
          </a:p>
          <a:p>
            <a:pPr algn="l">
              <a:lnSpc>
                <a:spcPts val="6600"/>
              </a:lnSpc>
            </a:pPr>
            <a:r>
              <a:rPr sz="7275" b="0" i="0">
                <a:solidFill>
                  <a:srgbClr val="F5F5F7"/>
                </a:solidFill>
                <a:latin typeface="Pretendard"/>
              </a:rPr>
              <a:t>MADE PERSONAL.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800850"/>
            <a:ext cx="7458075" cy="10763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From heart rate to recovery, see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your rhythm at a glance.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8572500"/>
            <a:ext cx="3048000" cy="17240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750" b="0" i="0">
                <a:solidFill>
                  <a:srgbClr val="F5F5F7"/>
                </a:solidFill>
                <a:latin typeface="Pretendard"/>
              </a:rPr>
              <a:t>96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11334750"/>
            <a:ext cx="27813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Pretendard"/>
              </a:rPr>
              <a:t>BPM  · 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2858750"/>
            <a:ext cx="133350" cy="3810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28750" y="12734925"/>
            <a:ext cx="133350" cy="62865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43100" y="12506325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57450" y="12001500"/>
            <a:ext cx="133350" cy="209550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2592050"/>
            <a:ext cx="133350" cy="92392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86150" y="12801600"/>
            <a:ext cx="133350" cy="50482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500" y="12696825"/>
            <a:ext cx="133350" cy="71437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4850" y="12277725"/>
            <a:ext cx="133350" cy="1552575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0" y="12734925"/>
            <a:ext cx="133350" cy="62865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43550" y="12877800"/>
            <a:ext cx="133350" cy="35242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57900" y="12573000"/>
            <a:ext cx="133350" cy="96202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72250" y="12192000"/>
            <a:ext cx="133350" cy="171450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86600" y="12649200"/>
            <a:ext cx="133350" cy="8001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00950" y="12839700"/>
            <a:ext cx="133350" cy="4191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15300" y="12744450"/>
            <a:ext cx="133350" cy="6096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29650" y="12401550"/>
            <a:ext cx="133350" cy="12954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 advTm="4688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25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2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5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5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5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5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5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7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58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58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5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5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27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5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58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32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5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58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37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58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1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2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3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57500"/>
            <a:ext cx="34861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00450"/>
            <a:ext cx="7839075" cy="15049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600"/>
              </a:lnSpc>
            </a:pPr>
            <a:r>
              <a:rPr sz="7200" b="0" i="0">
                <a:solidFill>
                  <a:srgbClr val="F5F5F7"/>
                </a:solidFill>
                <a:latin typeface="Pretendard"/>
              </a:rPr>
              <a:t>CONSISTENCY</a:t>
            </a:r>
          </a:p>
          <a:p>
            <a:pPr algn="l">
              <a:lnSpc>
                <a:spcPts val="6600"/>
              </a:lnSpc>
            </a:pPr>
            <a:r>
              <a:rPr sz="7200" b="0" i="0">
                <a:solidFill>
                  <a:srgbClr val="F5F5F7"/>
                </a:solidFill>
                <a:latin typeface="Pretendard"/>
              </a:rPr>
              <a:t>NEEDS A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115050"/>
            <a:ext cx="6477000" cy="990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When feedback arrives late,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motivation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9334500"/>
            <a:ext cx="10191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0096500"/>
            <a:ext cx="7429500" cy="38100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10096500"/>
            <a:ext cx="3714750" cy="3810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9700" y="9991725"/>
            <a:ext cx="247650" cy="24765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76350" y="10534650"/>
            <a:ext cx="5048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F5F5F7"/>
                </a:solidFill>
                <a:latin typeface="Pretendard"/>
              </a:rPr>
              <a:t>01</a:t>
            </a:r>
          </a:p>
        </p:txBody>
      </p:sp>
      <p:sp>
        <p:nvSpPr>
          <p:cNvPr id="11" name="Oval 10"/>
          <p:cNvSpPr/>
          <p:nvPr/>
        </p:nvSpPr>
        <p:spPr>
          <a:xfrm>
            <a:off x="2647950" y="9991725"/>
            <a:ext cx="247650" cy="24765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86025" y="10534650"/>
            <a:ext cx="5619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F5F5F7"/>
                </a:solidFill>
                <a:latin typeface="Pretendard"/>
              </a:rPr>
              <a:t>02</a:t>
            </a:r>
          </a:p>
        </p:txBody>
      </p:sp>
      <p:sp>
        <p:nvSpPr>
          <p:cNvPr id="13" name="Oval 12"/>
          <p:cNvSpPr/>
          <p:nvPr/>
        </p:nvSpPr>
        <p:spPr>
          <a:xfrm>
            <a:off x="3886200" y="9991725"/>
            <a:ext cx="247650" cy="24765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10534650"/>
            <a:ext cx="581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F5F5F7"/>
                </a:solidFill>
                <a:latin typeface="Pretendard"/>
              </a:rPr>
              <a:t>03</a:t>
            </a:r>
          </a:p>
        </p:txBody>
      </p:sp>
      <p:sp>
        <p:nvSpPr>
          <p:cNvPr id="15" name="Oval 14"/>
          <p:cNvSpPr/>
          <p:nvPr/>
        </p:nvSpPr>
        <p:spPr>
          <a:xfrm>
            <a:off x="5172075" y="10039350"/>
            <a:ext cx="152400" cy="152400"/>
          </a:xfrm>
          <a:prstGeom prst="ellipse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43475" y="10534650"/>
            <a:ext cx="6000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04</a:t>
            </a:r>
          </a:p>
        </p:txBody>
      </p:sp>
      <p:sp>
        <p:nvSpPr>
          <p:cNvPr id="17" name="Oval 16"/>
          <p:cNvSpPr/>
          <p:nvPr/>
        </p:nvSpPr>
        <p:spPr>
          <a:xfrm>
            <a:off x="6410325" y="10039350"/>
            <a:ext cx="152400" cy="152400"/>
          </a:xfrm>
          <a:prstGeom prst="ellipse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1250" y="10534650"/>
            <a:ext cx="581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05</a:t>
            </a:r>
          </a:p>
        </p:txBody>
      </p:sp>
      <p:sp>
        <p:nvSpPr>
          <p:cNvPr id="19" name="Oval 18"/>
          <p:cNvSpPr/>
          <p:nvPr/>
        </p:nvSpPr>
        <p:spPr>
          <a:xfrm>
            <a:off x="7648575" y="10039350"/>
            <a:ext cx="152400" cy="152400"/>
          </a:xfrm>
          <a:prstGeom prst="ellipse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9500" y="10534650"/>
            <a:ext cx="5905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06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9886950"/>
            <a:ext cx="38100" cy="4572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11811000"/>
            <a:ext cx="62484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FEEDBACK ARRIVES 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12382500"/>
            <a:ext cx="6867525" cy="1038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1250" b="0" i="0">
                <a:solidFill>
                  <a:srgbClr val="5EA8FF"/>
                </a:solidFill>
                <a:latin typeface="Pretendard"/>
              </a:rPr>
              <a:t>TOO LATE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219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39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5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58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5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98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76500"/>
            <a:ext cx="30861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MEET 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9450"/>
            <a:ext cx="7791450" cy="1695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025" b="0" i="0">
                <a:solidFill>
                  <a:srgbClr val="F5F5F7"/>
                </a:solidFill>
                <a:latin typeface="Pretendard"/>
              </a:rPr>
              <a:t>FIND YOUR</a:t>
            </a:r>
          </a:p>
          <a:p>
            <a:pPr algn="l">
              <a:lnSpc>
                <a:spcPts val="7500"/>
              </a:lnSpc>
            </a:pPr>
            <a:r>
              <a:rPr sz="8025" b="0" i="0">
                <a:solidFill>
                  <a:srgbClr val="F5F5F7"/>
                </a:solidFill>
                <a:latin typeface="Pretendard"/>
              </a:rPr>
              <a:t>DAILY RHYTHM.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34050"/>
            <a:ext cx="7191375" cy="1085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Turn scattered signals into one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clear daily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7734300"/>
            <a:ext cx="14573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SLEEP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4175" y="7734300"/>
            <a:ext cx="581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F5F5F7"/>
                </a:solidFill>
                <a:latin typeface="Pretendard"/>
              </a:rPr>
              <a:t>92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0" y="7943850"/>
            <a:ext cx="3676650" cy="952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8610600"/>
            <a:ext cx="19050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0850" y="8610600"/>
            <a:ext cx="514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F5F5F7"/>
                </a:solidFill>
                <a:latin typeface="Pretendard"/>
              </a:rPr>
              <a:t>81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0000" y="8820150"/>
            <a:ext cx="3238500" cy="952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9486900"/>
            <a:ext cx="18478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STRESS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4650" y="9486900"/>
            <a:ext cx="5905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F5F5F7"/>
                </a:solidFill>
                <a:latin typeface="Pretendard"/>
              </a:rPr>
              <a:t>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10000" y="9696450"/>
            <a:ext cx="962025" cy="952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10515600"/>
            <a:ext cx="6896100" cy="28575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76500" y="9944100"/>
            <a:ext cx="5334000" cy="533400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81475" y="11144250"/>
            <a:ext cx="1933575" cy="20097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21750" b="0" i="0">
                <a:solidFill>
                  <a:srgbClr val="F5F5F7"/>
                </a:solidFill>
                <a:latin typeface="Pretendard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14039850"/>
            <a:ext cx="407670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5EA8FF"/>
                </a:solidFill>
                <a:latin typeface="Pretendard"/>
              </a:rPr>
              <a:t>RECOVERY / 100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219" p14:dur="469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39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39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39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39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5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76500"/>
            <a:ext cx="36385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01 · LIVE SYNC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9450"/>
            <a:ext cx="5924550" cy="1695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NEVER MISS</a:t>
            </a:r>
          </a:p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A BEAT.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34050"/>
            <a:ext cx="6315075" cy="1085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Track heart-rate zones and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workout intensity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8353425"/>
            <a:ext cx="133350" cy="44767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28750" y="8201025"/>
            <a:ext cx="133350" cy="74295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43100" y="7934325"/>
            <a:ext cx="133350" cy="128587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57450" y="7334250"/>
            <a:ext cx="133350" cy="2476500"/>
          </a:xfrm>
          <a:prstGeom prst="roundRect">
            <a:avLst>
              <a:gd name="adj" fmla="val 50000"/>
            </a:avLst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8029575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86150" y="8277225"/>
            <a:ext cx="133350" cy="59055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00500" y="8153400"/>
            <a:ext cx="133350" cy="83820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14850" y="7658100"/>
            <a:ext cx="133350" cy="1828800"/>
          </a:xfrm>
          <a:prstGeom prst="roundRect">
            <a:avLst>
              <a:gd name="adj" fmla="val 50000"/>
            </a:avLst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0" y="8201025"/>
            <a:ext cx="133350" cy="74295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43550" y="8362950"/>
            <a:ext cx="133350" cy="41910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57900" y="8001000"/>
            <a:ext cx="133350" cy="114300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72250" y="7562850"/>
            <a:ext cx="133350" cy="2028825"/>
          </a:xfrm>
          <a:prstGeom prst="roundRect">
            <a:avLst>
              <a:gd name="adj" fmla="val 50000"/>
            </a:avLst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86600" y="8105775"/>
            <a:ext cx="133350" cy="94297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00950" y="8324850"/>
            <a:ext cx="133350" cy="49530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15300" y="8220075"/>
            <a:ext cx="133350" cy="71437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29650" y="7810500"/>
            <a:ext cx="133350" cy="153352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10287000"/>
            <a:ext cx="3743325" cy="17240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750" b="0" i="0">
                <a:solidFill>
                  <a:srgbClr val="F5F5F7"/>
                </a:solidFill>
                <a:latin typeface="Pretendard"/>
              </a:rPr>
              <a:t>118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550" y="13068300"/>
            <a:ext cx="3181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BPM   ZONE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287500"/>
            <a:ext cx="3686175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LIVE  /  SYNCED</a:t>
            </a:r>
          </a:p>
        </p:txBody>
      </p:sp>
    </p:spTree>
  </p:cSld>
  <p:clrMapOvr>
    <a:masterClrMapping/>
  </p:clrMapOvr>
  <p:transition xmlns:p14="http://schemas.microsoft.com/office/powerpoint/2010/main" spd="med" advClick="1" advTm="3750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5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5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5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25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25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75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5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5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58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75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258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25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325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25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25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375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58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258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258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7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8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9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0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1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2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3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4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76500"/>
            <a:ext cx="56007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02 · ADAPTIVE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9450"/>
            <a:ext cx="7648575" cy="1704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AI SETS</a:t>
            </a:r>
          </a:p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TODAY'S PACE.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34050"/>
            <a:ext cx="7181850" cy="9810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Adapt duration and intensity to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your recovery.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8001000"/>
            <a:ext cx="7848600" cy="5334000"/>
          </a:xfrm>
          <a:prstGeom prst="rect">
            <a:avLst/>
          </a:prstGeom>
          <a:solidFill>
            <a:srgbClr val="161B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7962900"/>
            <a:ext cx="7848600" cy="3810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47800" y="8477250"/>
            <a:ext cx="22764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PLANNED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7800" y="9010650"/>
            <a:ext cx="5057775" cy="533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5700" b="0" i="0">
                <a:solidFill>
                  <a:srgbClr val="5B6068"/>
                </a:solidFill>
                <a:latin typeface="Pretendard"/>
              </a:rPr>
              <a:t>32 MIN  ·  HIGH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7800" y="9906000"/>
            <a:ext cx="6096000" cy="133350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47800" y="10763250"/>
            <a:ext cx="1724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0075" y="10763250"/>
            <a:ext cx="3819525" cy="3333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5EA8FF"/>
                </a:solidFill>
                <a:latin typeface="Pretendard"/>
              </a:rPr>
              <a:t>↓  RECOVERY 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7800" y="11296650"/>
            <a:ext cx="3114675" cy="6953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7500" b="0" i="0">
                <a:solidFill>
                  <a:srgbClr val="F5F5F7"/>
                </a:solidFill>
                <a:latin typeface="Pretendard"/>
              </a:rPr>
              <a:t>32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7800" y="12477750"/>
            <a:ext cx="4572000" cy="1333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3906500"/>
            <a:ext cx="75723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MODERATE  ·  AUTO-ADJUSTED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219" p14:dur="469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9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25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0" fill="hold" grpId="0" nodeType="withEffect">
                                  <p:stCondLst>
                                    <p:cond delay="398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1406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76500"/>
            <a:ext cx="49720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03 · SMART STREAK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9450"/>
            <a:ext cx="7753350" cy="13620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000"/>
              </a:lnSpc>
            </a:pPr>
            <a:r>
              <a:rPr sz="6525" b="0" i="0">
                <a:solidFill>
                  <a:srgbClr val="F5F5F7"/>
                </a:solidFill>
                <a:latin typeface="Pretendard"/>
              </a:rPr>
              <a:t>TURN THREE DAYS</a:t>
            </a:r>
          </a:p>
          <a:p>
            <a:pPr algn="l">
              <a:lnSpc>
                <a:spcPts val="6000"/>
              </a:lnSpc>
            </a:pPr>
            <a:r>
              <a:rPr sz="6525" b="0" i="0">
                <a:solidFill>
                  <a:srgbClr val="F5F5F7"/>
                </a:solidFill>
                <a:latin typeface="Pretendard"/>
              </a:rPr>
              <a:t>INTO TWENTY-ONE.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29250"/>
            <a:ext cx="7248525" cy="9715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Link small wins into a habit that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lasts.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7048500"/>
            <a:ext cx="1866900" cy="2076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2500" b="0" i="0">
                <a:solidFill>
                  <a:srgbClr val="F5F5F7"/>
                </a:solidFill>
                <a:latin typeface="Pretendard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10325100"/>
            <a:ext cx="31718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DAY STREAK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1144250"/>
            <a:ext cx="457200" cy="457200"/>
          </a:xfrm>
          <a:prstGeom prst="ellipse">
            <a:avLst/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8350" y="11144250"/>
            <a:ext cx="457200" cy="457200"/>
          </a:xfrm>
          <a:prstGeom prst="ellipse">
            <a:avLst/>
          </a:prstGeom>
          <a:solidFill>
            <a:srgbClr val="147CE5">
              <a:alpha val="5686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162300" y="11144250"/>
            <a:ext cx="457200" cy="457200"/>
          </a:xfrm>
          <a:prstGeom prst="ellipse">
            <a:avLst/>
          </a:prstGeom>
          <a:solidFill>
            <a:srgbClr val="147CE5">
              <a:alpha val="58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86250" y="11144250"/>
            <a:ext cx="457200" cy="457200"/>
          </a:xfrm>
          <a:prstGeom prst="ellipse">
            <a:avLst/>
          </a:prstGeom>
          <a:solidFill>
            <a:srgbClr val="147CE5">
              <a:alpha val="60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410200" y="11144250"/>
            <a:ext cx="457200" cy="457200"/>
          </a:xfrm>
          <a:prstGeom prst="ellipse">
            <a:avLst/>
          </a:prstGeom>
          <a:solidFill>
            <a:srgbClr val="147CE5">
              <a:alpha val="6274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34150" y="11144250"/>
            <a:ext cx="457200" cy="457200"/>
          </a:xfrm>
          <a:prstGeom prst="ellipse">
            <a:avLst/>
          </a:prstGeom>
          <a:solidFill>
            <a:srgbClr val="147CE5">
              <a:alpha val="64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58100" y="11144250"/>
            <a:ext cx="457200" cy="457200"/>
          </a:xfrm>
          <a:prstGeom prst="ellipse">
            <a:avLst/>
          </a:prstGeom>
          <a:solidFill>
            <a:srgbClr val="147CE5">
              <a:alpha val="666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12363450"/>
            <a:ext cx="457200" cy="457200"/>
          </a:xfrm>
          <a:prstGeom prst="ellipse">
            <a:avLst/>
          </a:prstGeom>
          <a:solidFill>
            <a:srgbClr val="147CE5">
              <a:alpha val="6862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8350" y="12363450"/>
            <a:ext cx="457200" cy="457200"/>
          </a:xfrm>
          <a:prstGeom prst="ellipse">
            <a:avLst/>
          </a:prstGeom>
          <a:solidFill>
            <a:srgbClr val="147CE5">
              <a:alpha val="7098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162300" y="12363450"/>
            <a:ext cx="457200" cy="457200"/>
          </a:xfrm>
          <a:prstGeom prst="ellipse">
            <a:avLst/>
          </a:prstGeom>
          <a:solidFill>
            <a:srgbClr val="147CE5">
              <a:alpha val="72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86250" y="12363450"/>
            <a:ext cx="457200" cy="457200"/>
          </a:xfrm>
          <a:prstGeom prst="ellipse">
            <a:avLst/>
          </a:prstGeom>
          <a:solidFill>
            <a:srgbClr val="147CE5">
              <a:alpha val="7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10200" y="12363450"/>
            <a:ext cx="457200" cy="457200"/>
          </a:xfrm>
          <a:prstGeom prst="ellipse">
            <a:avLst/>
          </a:prstGeom>
          <a:solidFill>
            <a:srgbClr val="147CE5">
              <a:alpha val="7686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34150" y="12363450"/>
            <a:ext cx="457200" cy="457200"/>
          </a:xfrm>
          <a:prstGeom prst="ellipse">
            <a:avLst/>
          </a:prstGeom>
          <a:solidFill>
            <a:srgbClr val="147CE5">
              <a:alpha val="78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58100" y="12363450"/>
            <a:ext cx="457200" cy="457200"/>
          </a:xfrm>
          <a:prstGeom prst="ellipse">
            <a:avLst/>
          </a:prstGeom>
          <a:solidFill>
            <a:srgbClr val="147CE5">
              <a:alpha val="80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13582650"/>
            <a:ext cx="457200" cy="457200"/>
          </a:xfrm>
          <a:prstGeom prst="ellipse">
            <a:avLst/>
          </a:prstGeom>
          <a:solidFill>
            <a:srgbClr val="147CE5">
              <a:alpha val="8274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38350" y="13582650"/>
            <a:ext cx="457200" cy="457200"/>
          </a:xfrm>
          <a:prstGeom prst="ellipse">
            <a:avLst/>
          </a:prstGeom>
          <a:solidFill>
            <a:srgbClr val="147CE5">
              <a:alpha val="84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62300" y="13582650"/>
            <a:ext cx="457200" cy="457200"/>
          </a:xfrm>
          <a:prstGeom prst="ellipse">
            <a:avLst/>
          </a:prstGeom>
          <a:solidFill>
            <a:srgbClr val="147CE5">
              <a:alpha val="866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286250" y="13582650"/>
            <a:ext cx="457200" cy="457200"/>
          </a:xfrm>
          <a:prstGeom prst="ellipse">
            <a:avLst/>
          </a:prstGeom>
          <a:solidFill>
            <a:srgbClr val="147CE5">
              <a:alpha val="8862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10200" y="13582650"/>
            <a:ext cx="457200" cy="457200"/>
          </a:xfrm>
          <a:prstGeom prst="ellipse">
            <a:avLst/>
          </a:prstGeom>
          <a:solidFill>
            <a:srgbClr val="147CE5">
              <a:alpha val="9098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4150" y="13582650"/>
            <a:ext cx="457200" cy="457200"/>
          </a:xfrm>
          <a:prstGeom prst="ellipse">
            <a:avLst/>
          </a:prstGeom>
          <a:solidFill>
            <a:srgbClr val="147CE5">
              <a:alpha val="92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58100" y="13582650"/>
            <a:ext cx="457200" cy="457200"/>
          </a:xfrm>
          <a:prstGeom prst="ellipse">
            <a:avLst/>
          </a:prstGeom>
          <a:solidFill>
            <a:srgbClr val="F5F5F7">
              <a:alpha val="9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 advTm="4219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5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5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5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5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5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5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258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58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25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5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25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258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25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258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258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258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258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258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258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7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8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9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0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1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2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3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4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5" dur="1" fill="hold">
                        <p:stCondLst>
                          <p:cond delay="0"/>
                        </p:stCondLst>
                      </p:cTn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6" dur="1" fill="hold">
                        <p:stCondLst>
                          <p:cond delay="0"/>
                        </p:stCondLst>
                      </p:cTn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7" dur="1" fill="hold">
                        <p:stCondLst>
                          <p:cond delay="0"/>
                        </p:stCondLst>
                      </p:cTn>
                      <p:tgtEl>
                        <p:spTgt spid="2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8" dur="1" fill="hold">
                        <p:stCondLst>
                          <p:cond delay="0"/>
                        </p:stCondLst>
                      </p:cTn>
                      <p:tgtEl>
                        <p:spTgt spid="2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667000"/>
            <a:ext cx="39909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PROOF · WEEK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09950"/>
            <a:ext cx="6572250" cy="1704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GO LONGER.</a:t>
            </a:r>
          </a:p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GO FARTHER.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24550"/>
            <a:ext cx="7677150" cy="1085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Progress built with PULSE shows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up in the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8153400"/>
            <a:ext cx="24955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DISTANCE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6725" y="8153400"/>
            <a:ext cx="4200525" cy="3619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5EA8FF"/>
                </a:solidFill>
                <a:latin typeface="Pretendard"/>
              </a:rPr>
              <a:t>FIRST 5K  ·  +32%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1191875"/>
            <a:ext cx="628650" cy="809625"/>
          </a:xfrm>
          <a:prstGeom prst="rect">
            <a:avLst/>
          </a:prstGeom>
          <a:solidFill>
            <a:srgbClr val="147CE5">
              <a:alpha val="5215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5350" y="12192000"/>
            <a:ext cx="6667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5000" y="10934700"/>
            <a:ext cx="628650" cy="1066800"/>
          </a:xfrm>
          <a:prstGeom prst="rect">
            <a:avLst/>
          </a:prstGeom>
          <a:solidFill>
            <a:srgbClr val="147CE5">
              <a:alpha val="56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57375" y="12192000"/>
            <a:ext cx="7239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95600" y="10639425"/>
            <a:ext cx="628650" cy="1362075"/>
          </a:xfrm>
          <a:prstGeom prst="rect">
            <a:avLst/>
          </a:prstGeom>
          <a:solidFill>
            <a:srgbClr val="147CE5">
              <a:alpha val="60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8450" y="12192000"/>
            <a:ext cx="742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86200" y="10315575"/>
            <a:ext cx="628650" cy="1685925"/>
          </a:xfrm>
          <a:prstGeom prst="rect">
            <a:avLst/>
          </a:prstGeom>
          <a:solidFill>
            <a:srgbClr val="147CE5">
              <a:alpha val="65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9525" y="12192000"/>
            <a:ext cx="7620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800" y="9963150"/>
            <a:ext cx="628650" cy="2038350"/>
          </a:xfrm>
          <a:prstGeom prst="rect">
            <a:avLst/>
          </a:prstGeom>
          <a:solidFill>
            <a:srgbClr val="147CE5">
              <a:alpha val="7137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9650" y="12192000"/>
            <a:ext cx="742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67400" y="9572625"/>
            <a:ext cx="628650" cy="2428875"/>
          </a:xfrm>
          <a:prstGeom prst="rect">
            <a:avLst/>
          </a:prstGeom>
          <a:solidFill>
            <a:srgbClr val="147CE5">
              <a:alpha val="7725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0725" y="12192000"/>
            <a:ext cx="7524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9182100"/>
            <a:ext cx="628650" cy="2819400"/>
          </a:xfrm>
          <a:prstGeom prst="rect">
            <a:avLst/>
          </a:prstGeom>
          <a:solidFill>
            <a:srgbClr val="147CE5">
              <a:alpha val="8313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375" y="12192000"/>
            <a:ext cx="7239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48600" y="8763000"/>
            <a:ext cx="628650" cy="32385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1450" y="12192000"/>
            <a:ext cx="742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F5F5F7"/>
                </a:solidFill>
                <a:latin typeface="Pretendard"/>
              </a:rPr>
              <a:t>W8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12001500"/>
            <a:ext cx="7562850" cy="28575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13030200"/>
            <a:ext cx="4476750" cy="10668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800"/>
              </a:lnSpc>
            </a:pPr>
            <a:r>
              <a:rPr sz="4800" b="0" i="0">
                <a:solidFill>
                  <a:srgbClr val="F5F5F7"/>
                </a:solidFill>
                <a:latin typeface="Pretendard"/>
              </a:rPr>
              <a:t>“I FINALLY RAN</a:t>
            </a:r>
          </a:p>
          <a:p>
            <a:pPr algn="l">
              <a:lnSpc>
                <a:spcPts val="4800"/>
              </a:lnSpc>
            </a:pPr>
            <a:r>
              <a:rPr sz="4800" b="0" i="0">
                <a:solidFill>
                  <a:srgbClr val="F5F5F7"/>
                </a:solidFill>
                <a:latin typeface="Pretendard"/>
              </a:rPr>
              <a:t>MY FIRST 5K.”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14573250"/>
            <a:ext cx="49053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VERIFIED BETA USER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3750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25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5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39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0" fill="hold" grpId="0" nodeType="with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39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39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0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39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398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39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39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39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398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58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7" dur="1" fill="hold">
                        <p:stCondLst>
                          <p:cond delay="0"/>
                        </p:stCondLst>
                      </p:cTn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8" dur="1" fill="hold">
                        <p:stCondLst>
                          <p:cond delay="0"/>
                        </p:stCondLst>
                      </p:cTn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381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Roboto"/>
              </a:rP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953000"/>
            <a:ext cx="5924550" cy="2457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650"/>
              </a:lnSpc>
            </a:pPr>
            <a:r>
              <a:rPr sz="12000" b="0" i="0">
                <a:solidFill>
                  <a:srgbClr val="080A0E"/>
                </a:solidFill>
                <a:latin typeface="Pretendard"/>
              </a:rPr>
              <a:t>TIME TO</a:t>
            </a:r>
          </a:p>
          <a:p>
            <a:pPr algn="l">
              <a:lnSpc>
                <a:spcPts val="10650"/>
              </a:lnSpc>
            </a:pPr>
            <a:r>
              <a:rPr sz="12000" b="0" i="0">
                <a:solidFill>
                  <a:srgbClr val="080A0E"/>
                </a:solidFill>
                <a:latin typeface="Pretendard"/>
              </a:rPr>
              <a:t>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763000"/>
            <a:ext cx="7124700" cy="10668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E8F2FF"/>
                </a:solidFill>
                <a:latin typeface="Pretendard"/>
              </a:rPr>
              <a:t>The fastest way to understand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E8F2FF"/>
                </a:solidFill>
                <a:latin typeface="Pretendard"/>
              </a:rPr>
              <a:t>your body.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239500"/>
            <a:ext cx="5876925" cy="628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6300" b="0" i="0">
                <a:solidFill>
                  <a:srgbClr val="F5F5F7"/>
                </a:solidFill>
                <a:latin typeface="Pretendard"/>
              </a:rPr>
              <a:t>START FREE 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2325350"/>
            <a:ext cx="5334000" cy="47625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049250"/>
            <a:ext cx="76581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D7E9FF"/>
                </a:solidFill>
                <a:latin typeface="Pretendard"/>
              </a:rPr>
              <a:t>7 DAYS FREE  ·  CANCEL ANYTIME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287500"/>
            <a:ext cx="3086100" cy="381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4050" b="0" i="0">
                <a:solidFill>
                  <a:srgbClr val="F5F5F7"/>
                </a:solidFill>
                <a:latin typeface="Pretendard"/>
              </a:rPr>
              <a:t>PULSE.APP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3281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39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25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5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