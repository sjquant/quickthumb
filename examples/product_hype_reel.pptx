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5695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PERSONAL FITNESS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71950"/>
            <a:ext cx="8353425" cy="1638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sz="7800" b="0" i="0">
                <a:solidFill>
                  <a:srgbClr val="F5F5F7"/>
                </a:solidFill>
                <a:latin typeface="Pretendard"/>
              </a:rPr>
              <a:t>TRAINING,</a:t>
            </a:r>
          </a:p>
          <a:p>
            <a:pPr algn="l">
              <a:lnSpc>
                <a:spcPts val="7200"/>
              </a:lnSpc>
            </a:pPr>
            <a:r>
              <a:rPr sz="7800" b="0" i="0">
                <a:solidFill>
                  <a:srgbClr val="F5F5F7"/>
                </a:solidFill>
                <a:latin typeface="Pretendard"/>
              </a:rPr>
              <a:t>MADE PERSONAL.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143750"/>
            <a:ext cx="7762875" cy="9715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From heart rate to recovery, see your</a:t>
            </a:r>
          </a:p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rhythm at a glance.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01250"/>
            <a:ext cx="4667250" cy="19526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1000" b="0" i="0">
                <a:solidFill>
                  <a:srgbClr val="F5F5F7"/>
                </a:solidFill>
                <a:latin typeface="Pretendard"/>
              </a:rPr>
              <a:t>148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3049250"/>
            <a:ext cx="27813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Pretendard"/>
              </a:rPr>
              <a:t>BPM  · 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4268450"/>
            <a:ext cx="114300" cy="22860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66850" y="14163675"/>
            <a:ext cx="114300" cy="43815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19300" y="13992225"/>
            <a:ext cx="114300" cy="78105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71750" y="13620750"/>
            <a:ext cx="114300" cy="15240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24200" y="14039850"/>
            <a:ext cx="114300" cy="68580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76650" y="14201775"/>
            <a:ext cx="114300" cy="36195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29100" y="14125575"/>
            <a:ext cx="114300" cy="51435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81550" y="13820775"/>
            <a:ext cx="114300" cy="112395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34000" y="1415415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86450" y="14249400"/>
            <a:ext cx="114300" cy="26670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38900" y="14030325"/>
            <a:ext cx="114300" cy="70485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1350" y="13754100"/>
            <a:ext cx="114300" cy="12573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43800" y="14097000"/>
            <a:ext cx="114300" cy="57150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96250" y="14230350"/>
            <a:ext cx="114300" cy="304800"/>
          </a:xfrm>
          <a:prstGeom prst="roundRect">
            <a:avLst>
              <a:gd name="adj" fmla="val 50000"/>
            </a:avLst>
          </a:prstGeom>
          <a:solidFill>
            <a:srgbClr val="F5F5F7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688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25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67000"/>
            <a:ext cx="34861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8372475" cy="1590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975"/>
              </a:lnSpc>
            </a:pPr>
            <a:r>
              <a:rPr sz="7725" b="0" i="0">
                <a:solidFill>
                  <a:srgbClr val="F5F5F7"/>
                </a:solidFill>
                <a:latin typeface="Pretendard"/>
              </a:rPr>
              <a:t>CONSISTENCY</a:t>
            </a:r>
          </a:p>
          <a:p>
            <a:pPr algn="l">
              <a:lnSpc>
                <a:spcPts val="6975"/>
              </a:lnSpc>
            </a:pPr>
            <a:r>
              <a:rPr sz="7725" b="0" i="0">
                <a:solidFill>
                  <a:srgbClr val="F5F5F7"/>
                </a:solidFill>
                <a:latin typeface="Pretendard"/>
              </a:rPr>
              <a:t>NEEDS A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81750"/>
            <a:ext cx="8115300" cy="8953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When feedback arrives late, motivation</a:t>
            </a:r>
          </a:p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follows.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3800" y="10715625"/>
            <a:ext cx="4724400" cy="3810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0600" y="10715625"/>
            <a:ext cx="274320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" y="10629900"/>
            <a:ext cx="209550" cy="2095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57425" y="10629900"/>
            <a:ext cx="209550" cy="2095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29025" y="10629900"/>
            <a:ext cx="209550" cy="2095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38725" y="10668000"/>
            <a:ext cx="133350" cy="13335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10325" y="10668000"/>
            <a:ext cx="133350" cy="13335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1925" y="10668000"/>
            <a:ext cx="133350" cy="13335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600" y="11239500"/>
            <a:ext cx="52387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DAY 01 DAY 02 DAY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2573000"/>
            <a:ext cx="3905250" cy="9239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050"/>
              </a:lnSpc>
            </a:pPr>
            <a:r>
              <a:rPr sz="4350" b="0" i="0">
                <a:solidFill>
                  <a:srgbClr val="F5F5F7"/>
                </a:solidFill>
                <a:latin typeface="Pretendard"/>
              </a:rPr>
              <a:t>FEEDBACK</a:t>
            </a:r>
          </a:p>
          <a:p>
            <a:pPr algn="l">
              <a:lnSpc>
                <a:spcPts val="4050"/>
              </a:lnSpc>
            </a:pPr>
            <a:r>
              <a:rPr sz="4350" b="0" i="0">
                <a:solidFill>
                  <a:srgbClr val="F5F5F7"/>
                </a:solidFill>
                <a:latin typeface="Pretendard"/>
              </a:rPr>
              <a:t>ARRIVES 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4144625"/>
            <a:ext cx="2762250" cy="4095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350" b="0" i="0">
                <a:solidFill>
                  <a:srgbClr val="5EA8FF"/>
                </a:solidFill>
                <a:latin typeface="Pretendard"/>
              </a:rPr>
              <a:t>TOO LATE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67000"/>
            <a:ext cx="3086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MEET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7858125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FIND YOUR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DAILY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81750"/>
            <a:ext cx="7572375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Turn scattered signals into one clear</a:t>
            </a:r>
          </a:p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daily score.</a:t>
            </a:r>
          </a:p>
        </p:txBody>
      </p:sp>
      <p:sp>
        <p:nvSpPr>
          <p:cNvPr id="6" name="Oval 5"/>
          <p:cNvSpPr/>
          <p:nvPr/>
        </p:nvSpPr>
        <p:spPr>
          <a:xfrm>
            <a:off x="1381125" y="8239125"/>
            <a:ext cx="6191250" cy="6191250"/>
          </a:xfrm>
          <a:prstGeom prst="ellipse">
            <a:avLst/>
          </a:prstGeom>
          <a:solidFill>
            <a:srgbClr val="147CE5">
              <a:alpha val="1568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9334500"/>
            <a:ext cx="3848100" cy="2152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3250" b="0" i="0">
                <a:solidFill>
                  <a:srgbClr val="F5F5F7"/>
                </a:solidFill>
                <a:latin typeface="Pretendard"/>
              </a:rPr>
              <a:t>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2239625"/>
            <a:ext cx="39528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RECOVERY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954000"/>
            <a:ext cx="22288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SLEEP  92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13125450"/>
            <a:ext cx="4029075" cy="762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906500"/>
            <a:ext cx="26003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ENERGY  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95750" y="14077950"/>
            <a:ext cx="3543300" cy="762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4859000"/>
            <a:ext cx="2619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STRESS 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95750" y="15030450"/>
            <a:ext cx="1047750" cy="762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67000"/>
            <a:ext cx="39528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01  /  LIVE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59245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NEVER MISS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 BEAT.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81750"/>
            <a:ext cx="7505700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Track heart-rate zones and workout</a:t>
            </a:r>
          </a:p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intensity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334500"/>
            <a:ext cx="4895850" cy="20478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2500" b="0" i="0">
                <a:solidFill>
                  <a:srgbClr val="F5F5F7"/>
                </a:solidFill>
                <a:latin typeface="Pretendard"/>
              </a:rPr>
              <a:t>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2573000"/>
            <a:ext cx="3181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BPM   ZONE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3601700"/>
            <a:ext cx="114300" cy="22860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13496925"/>
            <a:ext cx="114300" cy="43815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19300" y="13325475"/>
            <a:ext cx="114300" cy="78105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71750" y="12954000"/>
            <a:ext cx="114300" cy="15240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24200" y="13373100"/>
            <a:ext cx="114300" cy="68580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76650" y="13535025"/>
            <a:ext cx="114300" cy="36195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9100" y="13458825"/>
            <a:ext cx="114300" cy="51435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1550" y="13154025"/>
            <a:ext cx="114300" cy="112395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34000" y="134874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86450" y="13582650"/>
            <a:ext cx="114300" cy="26670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8900" y="13363575"/>
            <a:ext cx="114300" cy="70485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91350" y="13087350"/>
            <a:ext cx="114300" cy="12573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43800" y="13430250"/>
            <a:ext cx="114300" cy="57150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96250" y="13563600"/>
            <a:ext cx="114300" cy="304800"/>
          </a:xfrm>
          <a:prstGeom prst="roundRect">
            <a:avLst>
              <a:gd name="adj" fmla="val 50000"/>
            </a:avLst>
          </a:prstGeom>
          <a:solidFill>
            <a:srgbClr val="147CE5">
              <a:alpha val="5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4859000"/>
            <a:ext cx="36861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LIVE  /  SYNCED</a:t>
            </a:r>
          </a:p>
        </p:txBody>
      </p:sp>
    </p:spTree>
  </p:cSld>
  <p:clrMapOvr>
    <a:masterClrMapping/>
  </p:clrMapOvr>
  <p:transition xmlns:p14="http://schemas.microsoft.com/office/powerpoint/2010/main" spd="med" advClick="1" advTm="375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67000"/>
            <a:ext cx="591502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02  /  ADAPTIVE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764857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AI SETS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TODAY'S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81750"/>
            <a:ext cx="7467600" cy="885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Adapt duration and intensity to your</a:t>
            </a:r>
          </a:p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recovery.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620250"/>
            <a:ext cx="22193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PLANNED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191750"/>
            <a:ext cx="4629150" cy="561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100" b="0" i="0">
                <a:solidFill>
                  <a:srgbClr val="666971"/>
                </a:solidFill>
                <a:latin typeface="Pretendard"/>
              </a:rPr>
              <a:t>32 MIN  /  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0696575"/>
            <a:ext cx="5810250" cy="38100"/>
          </a:xfrm>
          <a:prstGeom prst="rect">
            <a:avLst/>
          </a:prstGeom>
          <a:solidFill>
            <a:srgbClr val="5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715750"/>
            <a:ext cx="3819525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↓  RECOVERY 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295400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3430250"/>
            <a:ext cx="4629150" cy="10287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1250" b="0" i="0">
                <a:solidFill>
                  <a:srgbClr val="F5F5F7"/>
                </a:solidFill>
                <a:latin typeface="Pretendard"/>
              </a:rPr>
              <a:t>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4859000"/>
            <a:ext cx="73818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MODERATE  /  AUTO-ADJUSTED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67000"/>
            <a:ext cx="52863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03  /  SMART 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8239125" cy="1466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450"/>
              </a:lnSpc>
            </a:pPr>
            <a:r>
              <a:rPr sz="6900" b="0" i="0">
                <a:solidFill>
                  <a:srgbClr val="F5F5F7"/>
                </a:solidFill>
                <a:latin typeface="Pretendard"/>
              </a:rPr>
              <a:t>TURN THREE DAYS</a:t>
            </a:r>
          </a:p>
          <a:p>
            <a:pPr algn="l">
              <a:lnSpc>
                <a:spcPts val="6450"/>
              </a:lnSpc>
            </a:pPr>
            <a:r>
              <a:rPr sz="6900" b="0" i="0">
                <a:solidFill>
                  <a:srgbClr val="F5F5F7"/>
                </a:solidFill>
                <a:latin typeface="Pretendard"/>
              </a:rPr>
              <a:t>INTO TWENTY-ONE.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81750"/>
            <a:ext cx="7686675" cy="3524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Link small wins into a habit that lasts.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858250"/>
            <a:ext cx="3362325" cy="2247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750" b="0" i="0">
                <a:solidFill>
                  <a:srgbClr val="F5F5F7"/>
                </a:solidFill>
                <a:latin typeface="Pretendard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9650" y="12382500"/>
            <a:ext cx="3086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DAY STREAK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2954000"/>
            <a:ext cx="323850" cy="323850"/>
          </a:xfrm>
          <a:prstGeom prst="ellipse">
            <a:avLst/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81200" y="12954000"/>
            <a:ext cx="323850" cy="323850"/>
          </a:xfrm>
          <a:prstGeom prst="ellipse">
            <a:avLst/>
          </a:prstGeom>
          <a:solidFill>
            <a:srgbClr val="147CE5">
              <a:alpha val="5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8000" y="12954000"/>
            <a:ext cx="323850" cy="323850"/>
          </a:xfrm>
          <a:prstGeom prst="ellipse">
            <a:avLst/>
          </a:prstGeom>
          <a:solidFill>
            <a:srgbClr val="147CE5">
              <a:alpha val="5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14800" y="12954000"/>
            <a:ext cx="323850" cy="323850"/>
          </a:xfrm>
          <a:prstGeom prst="ellipse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81600" y="12954000"/>
            <a:ext cx="323850" cy="323850"/>
          </a:xfrm>
          <a:prstGeom prst="ellipse">
            <a:avLst/>
          </a:prstGeom>
          <a:solidFill>
            <a:srgbClr val="147CE5">
              <a:alpha val="6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48400" y="12954000"/>
            <a:ext cx="323850" cy="323850"/>
          </a:xfrm>
          <a:prstGeom prst="ellipse">
            <a:avLst/>
          </a:prstGeom>
          <a:solidFill>
            <a:srgbClr val="147CE5">
              <a:alpha val="6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0" y="12954000"/>
            <a:ext cx="323850" cy="323850"/>
          </a:xfrm>
          <a:prstGeom prst="ellipse">
            <a:avLst/>
          </a:prstGeom>
          <a:solidFill>
            <a:srgbClr val="147CE5">
              <a:alpha val="6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13849350"/>
            <a:ext cx="323850" cy="323850"/>
          </a:xfrm>
          <a:prstGeom prst="ellipse">
            <a:avLst/>
          </a:prstGeom>
          <a:solidFill>
            <a:srgbClr val="147CE5">
              <a:alpha val="6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81200" y="13849350"/>
            <a:ext cx="323850" cy="323850"/>
          </a:xfrm>
          <a:prstGeom prst="ellipse">
            <a:avLst/>
          </a:prstGeom>
          <a:solidFill>
            <a:srgbClr val="147CE5">
              <a:alpha val="7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48000" y="13849350"/>
            <a:ext cx="323850" cy="323850"/>
          </a:xfrm>
          <a:prstGeom prst="ellipse">
            <a:avLst/>
          </a:prstGeom>
          <a:solidFill>
            <a:srgbClr val="147CE5">
              <a:alpha val="7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14800" y="13849350"/>
            <a:ext cx="323850" cy="323850"/>
          </a:xfrm>
          <a:prstGeom prst="ellipse">
            <a:avLst/>
          </a:prstGeom>
          <a:solidFill>
            <a:srgbClr val="147CE5">
              <a:alpha val="7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81600" y="13849350"/>
            <a:ext cx="323850" cy="323850"/>
          </a:xfrm>
          <a:prstGeom prst="ellipse">
            <a:avLst/>
          </a:prstGeom>
          <a:solidFill>
            <a:srgbClr val="147CE5">
              <a:alpha val="7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8400" y="13849350"/>
            <a:ext cx="323850" cy="323850"/>
          </a:xfrm>
          <a:prstGeom prst="ellipse">
            <a:avLst/>
          </a:prstGeom>
          <a:solidFill>
            <a:srgbClr val="147CE5">
              <a:alpha val="7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0" y="13849350"/>
            <a:ext cx="323850" cy="323850"/>
          </a:xfrm>
          <a:prstGeom prst="ellipse">
            <a:avLst/>
          </a:prstGeom>
          <a:solidFill>
            <a:srgbClr val="147CE5">
              <a:alpha val="8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14744700"/>
            <a:ext cx="323850" cy="323850"/>
          </a:xfrm>
          <a:prstGeom prst="ellipse">
            <a:avLst/>
          </a:prstGeom>
          <a:solidFill>
            <a:srgbClr val="147CE5">
              <a:alpha val="8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200" y="14744700"/>
            <a:ext cx="323850" cy="323850"/>
          </a:xfrm>
          <a:prstGeom prst="ellipse">
            <a:avLst/>
          </a:prstGeom>
          <a:solidFill>
            <a:srgbClr val="147CE5">
              <a:alpha val="8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48000" y="14744700"/>
            <a:ext cx="323850" cy="323850"/>
          </a:xfrm>
          <a:prstGeom prst="ellipse">
            <a:avLst/>
          </a:prstGeom>
          <a:solidFill>
            <a:srgbClr val="147CE5">
              <a:alpha val="8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14800" y="14744700"/>
            <a:ext cx="323850" cy="323850"/>
          </a:xfrm>
          <a:prstGeom prst="ellipse">
            <a:avLst/>
          </a:prstGeom>
          <a:solidFill>
            <a:srgbClr val="147CE5">
              <a:alpha val="8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181600" y="14744700"/>
            <a:ext cx="323850" cy="323850"/>
          </a:xfrm>
          <a:prstGeom prst="ellipse">
            <a:avLst/>
          </a:prstGeom>
          <a:solidFill>
            <a:srgbClr val="147CE5">
              <a:alpha val="9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48400" y="14744700"/>
            <a:ext cx="323850" cy="323850"/>
          </a:xfrm>
          <a:prstGeom prst="ellipse">
            <a:avLst/>
          </a:prstGeom>
          <a:solidFill>
            <a:srgbClr val="147CE5">
              <a:alpha val="9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0" y="14744700"/>
            <a:ext cx="323850" cy="323850"/>
          </a:xfrm>
          <a:prstGeom prst="ellipse">
            <a:avLst/>
          </a:prstGeom>
          <a:solidFill>
            <a:srgbClr val="F5F5F7">
              <a:alpha val="9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219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5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5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5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5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5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6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7" dur="1" fill="hold">
                        <p:stCondLst>
                          <p:cond delay="0"/>
                        </p:stCondLst>
                      </p:cTn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8" dur="1" fill="hold">
                        <p:stCondLst>
                          <p:cond delay="0"/>
                        </p:stCondLst>
                      </p:cTn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8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67000"/>
            <a:ext cx="43053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PROOF  / 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6572250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LONGER.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81750"/>
            <a:ext cx="7934325" cy="876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Progress built with PULSE shows up in</a:t>
            </a:r>
          </a:p>
          <a:p>
            <a:pPr algn="l">
              <a:lnSpc>
                <a:spcPts val="4275"/>
              </a:lnSpc>
            </a:pPr>
            <a:r>
              <a:rPr sz="3600" b="0" i="0">
                <a:solidFill>
                  <a:srgbClr val="9A9BA1"/>
                </a:solidFill>
                <a:latin typeface="Pretendard"/>
              </a:rPr>
              <a:t>the numbers.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477375"/>
            <a:ext cx="76200" cy="48577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8750" y="9144000"/>
            <a:ext cx="3933825" cy="2190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000" b="0" i="0">
                <a:solidFill>
                  <a:srgbClr val="F5F5F7"/>
                </a:solidFill>
                <a:latin typeface="Pretendard"/>
              </a:rPr>
              <a:t>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4950" y="12382500"/>
            <a:ext cx="3895725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5EA8FF"/>
                </a:solidFill>
                <a:latin typeface="Pretendard"/>
              </a:rPr>
              <a:t>FIRST FINISH</a:t>
            </a:r>
          </a:p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5EA8FF"/>
                </a:solidFill>
                <a:latin typeface="Pretendard"/>
              </a:rPr>
              <a:t>+32%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3716000"/>
            <a:ext cx="3962400" cy="885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4200" b="0" i="0">
                <a:solidFill>
                  <a:srgbClr val="F5F5F7"/>
                </a:solidFill>
                <a:latin typeface="Pretendard"/>
              </a:rPr>
              <a:t>“I FINALLY RAN</a:t>
            </a:r>
          </a:p>
          <a:p>
            <a:pPr algn="l">
              <a:lnSpc>
                <a:spcPts val="3900"/>
              </a:lnSpc>
            </a:pPr>
            <a:r>
              <a:rPr sz="4200" b="0" i="0">
                <a:solidFill>
                  <a:srgbClr val="F5F5F7"/>
                </a:solidFill>
                <a:latin typeface="Pretendard"/>
              </a:rPr>
              <a:t>MY FIRST 5K.”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4950" y="14954250"/>
            <a:ext cx="4905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VERIFIED BETA USER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750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62500"/>
            <a:ext cx="5553075" cy="2324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050"/>
              </a:lnSpc>
            </a:pPr>
            <a:r>
              <a:rPr sz="11250" b="0" i="0">
                <a:solidFill>
                  <a:srgbClr val="080A0E"/>
                </a:solidFill>
                <a:latin typeface="Pretendard"/>
              </a:rPr>
              <a:t>TIME TO</a:t>
            </a:r>
          </a:p>
          <a:p>
            <a:pPr algn="l">
              <a:lnSpc>
                <a:spcPts val="10050"/>
              </a:lnSpc>
            </a:pPr>
            <a:r>
              <a:rPr sz="11250" b="0" i="0">
                <a:solidFill>
                  <a:srgbClr val="080A0E"/>
                </a:solidFill>
                <a:latin typeface="Pretendard"/>
              </a:rPr>
              <a:t>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096250"/>
            <a:ext cx="6648450" cy="1000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425"/>
              </a:lnSpc>
            </a:pPr>
            <a:r>
              <a:rPr sz="3750" b="0" i="0">
                <a:solidFill>
                  <a:srgbClr val="E8F2FF"/>
                </a:solidFill>
                <a:latin typeface="Pretendard"/>
              </a:rPr>
              <a:t>The fastest way to understand</a:t>
            </a:r>
          </a:p>
          <a:p>
            <a:pPr algn="l">
              <a:lnSpc>
                <a:spcPts val="4425"/>
              </a:lnSpc>
            </a:pPr>
            <a:r>
              <a:rPr sz="3750" b="0" i="0">
                <a:solidFill>
                  <a:srgbClr val="E8F2FF"/>
                </a:solidFill>
                <a:latin typeface="Pretendard"/>
              </a:rPr>
              <a:t>your 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668000"/>
            <a:ext cx="5362575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700" b="0" i="0">
                <a:solidFill>
                  <a:srgbClr val="F5F5F7"/>
                </a:solidFill>
                <a:latin typeface="Pretendard"/>
              </a:rPr>
              <a:t>START FREE 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1668125"/>
            <a:ext cx="4953000" cy="47625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573000"/>
            <a:ext cx="76962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D7E9FF"/>
                </a:solidFill>
                <a:latin typeface="Pretendard"/>
              </a:rPr>
              <a:t>7 DAYS FREE  /  CANCEL ANYTIME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859000"/>
            <a:ext cx="30861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F5F5F7"/>
                </a:solidFill>
                <a:latin typeface="Pretendard"/>
              </a:rPr>
              <a:t>PULSE.APP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28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