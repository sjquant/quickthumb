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43300"/>
            <a:ext cx="5695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PERSONAL FITNESS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86250"/>
            <a:ext cx="7810500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TRAINING,</a:t>
            </a:r>
          </a:p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MADE PERSONAL.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00850"/>
            <a:ext cx="7458075" cy="1076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From heart rate to recovery, see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rhythm at a glance.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72500"/>
            <a:ext cx="3048000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11334750"/>
            <a:ext cx="2781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BPM  · 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58750"/>
            <a:ext cx="133350" cy="3810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2875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3100" y="1250632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57450" y="120015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2592050"/>
            <a:ext cx="133350" cy="9239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6150" y="12801600"/>
            <a:ext cx="133350" cy="5048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1269682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4850" y="12277725"/>
            <a:ext cx="133350" cy="1552575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3550" y="12877800"/>
            <a:ext cx="133350" cy="3524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57900" y="12573000"/>
            <a:ext cx="133350" cy="9620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72250" y="12192000"/>
            <a:ext cx="133350" cy="1714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600" y="12649200"/>
            <a:ext cx="133350" cy="800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00950" y="1283970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5300" y="12744450"/>
            <a:ext cx="133350" cy="6096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29650" y="1240155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688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8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57500"/>
            <a:ext cx="34861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0450"/>
            <a:ext cx="7839075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NEEDS A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15050"/>
            <a:ext cx="6477000" cy="990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When feedback arrives late,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motivation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334500"/>
            <a:ext cx="10191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0096500"/>
            <a:ext cx="7429500" cy="3810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0096500"/>
            <a:ext cx="371475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97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76350" y="10534650"/>
            <a:ext cx="504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264795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6025" y="10534650"/>
            <a:ext cx="561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38862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03</a:t>
            </a:r>
          </a:p>
        </p:txBody>
      </p:sp>
      <p:sp>
        <p:nvSpPr>
          <p:cNvPr id="15" name="Oval 14"/>
          <p:cNvSpPr/>
          <p:nvPr/>
        </p:nvSpPr>
        <p:spPr>
          <a:xfrm>
            <a:off x="51720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3475" y="10534650"/>
            <a:ext cx="6000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04</a:t>
            </a:r>
          </a:p>
        </p:txBody>
      </p:sp>
      <p:sp>
        <p:nvSpPr>
          <p:cNvPr id="17" name="Oval 16"/>
          <p:cNvSpPr/>
          <p:nvPr/>
        </p:nvSpPr>
        <p:spPr>
          <a:xfrm>
            <a:off x="641032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12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05</a:t>
            </a:r>
          </a:p>
        </p:txBody>
      </p:sp>
      <p:sp>
        <p:nvSpPr>
          <p:cNvPr id="19" name="Oval 18"/>
          <p:cNvSpPr/>
          <p:nvPr/>
        </p:nvSpPr>
        <p:spPr>
          <a:xfrm>
            <a:off x="76485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0" y="1053465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9791700"/>
            <a:ext cx="76200" cy="66675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1811000"/>
            <a:ext cx="6248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FEEDBACK ARRIVES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2382500"/>
            <a:ext cx="6867525" cy="1038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1250" b="0" i="0">
                <a:solidFill>
                  <a:srgbClr val="5EA8FF"/>
                </a:solidFill>
                <a:latin typeface="Pretendard"/>
              </a:rPr>
              <a:t>TOO LATE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3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9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67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9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3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9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86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MEET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914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FIND YOUR</a:t>
            </a:r>
          </a:p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DAILY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913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Turn scattered signals into one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clear daily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734300"/>
            <a:ext cx="1457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SLEEP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4175" y="773430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0" y="7943850"/>
            <a:ext cx="367665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8610600"/>
            <a:ext cx="1905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850" y="8610600"/>
            <a:ext cx="514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0" y="8820150"/>
            <a:ext cx="323850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486900"/>
            <a:ext cx="18478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948690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0" y="9696450"/>
            <a:ext cx="962025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0515600"/>
            <a:ext cx="689610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76500" y="9944100"/>
            <a:ext cx="5334000" cy="533400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1475" y="11144250"/>
            <a:ext cx="1933575" cy="2009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1750" b="0" i="0">
                <a:solidFill>
                  <a:srgbClr val="F5F5F7"/>
                </a:solidFill>
                <a:latin typeface="Pretendard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14039850"/>
            <a:ext cx="40767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5EA8FF"/>
                </a:solidFill>
                <a:latin typeface="Pretendard"/>
              </a:rPr>
              <a:t>RECOVERY / 100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86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8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86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638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01 · LIVE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59245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NEVER MISS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 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63150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Track heart-rate zones 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workout intensity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8353425"/>
            <a:ext cx="133350" cy="4476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2875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43100" y="7934325"/>
            <a:ext cx="133350" cy="12858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57450" y="73342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802957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8277225"/>
            <a:ext cx="133350" cy="5905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815340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4850" y="7658100"/>
            <a:ext cx="133350" cy="18288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43550" y="836295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57900" y="8001000"/>
            <a:ext cx="133350" cy="11430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72250" y="7562850"/>
            <a:ext cx="133350" cy="2028825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86600" y="8105775"/>
            <a:ext cx="133350" cy="9429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00950" y="8324850"/>
            <a:ext cx="133350" cy="4953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5300" y="822007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29650" y="7810500"/>
            <a:ext cx="133350" cy="153352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0287000"/>
            <a:ext cx="3743325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118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50" y="13068300"/>
            <a:ext cx="3181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BPM   ZONE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87500"/>
            <a:ext cx="36861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LIVE  /  SYNCED</a:t>
            </a:r>
          </a:p>
        </p:txBody>
      </p:sp>
    </p:spTree>
  </p:cSld>
  <p:clrMapOvr>
    <a:masterClrMapping/>
  </p:clrMapOvr>
  <p:transition xmlns:p14="http://schemas.microsoft.com/office/powerpoint/2010/main" spd="med" advClick="1" advTm="375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56007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02 · ADAPTIVE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6485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AI SETS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TODAY'S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8185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Adapt duration and intensity to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recovery.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001000"/>
            <a:ext cx="7848600" cy="5334000"/>
          </a:xfrm>
          <a:prstGeom prst="rect">
            <a:avLst/>
          </a:prstGeom>
          <a:solidFill>
            <a:srgbClr val="16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7962900"/>
            <a:ext cx="784860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7800" y="8477250"/>
            <a:ext cx="2276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PLANNED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9010650"/>
            <a:ext cx="5057775" cy="533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700" b="0" i="0">
                <a:solidFill>
                  <a:srgbClr val="7C838D"/>
                </a:solidFill>
                <a:latin typeface="Pretendard"/>
              </a:rPr>
              <a:t>32 MIN  · 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7800" y="9906000"/>
            <a:ext cx="6096000" cy="13335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7800" y="10763250"/>
            <a:ext cx="1724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75" y="10763250"/>
            <a:ext cx="38195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↓  RECOVERY 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11296650"/>
            <a:ext cx="3114675" cy="695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7500" b="0" i="0">
                <a:solidFill>
                  <a:srgbClr val="F5F5F7"/>
                </a:solidFill>
                <a:latin typeface="Pretendard"/>
              </a:rPr>
              <a:t>32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7800" y="12477750"/>
            <a:ext cx="4572000" cy="1333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906500"/>
            <a:ext cx="7572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MODERATE  ·  AUTO-ADJUSTED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86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58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109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49720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03 · SMART 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53350" cy="1362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INTO TWENTY-ONE.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29250"/>
            <a:ext cx="7248525" cy="9715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Link small wins into a habit that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lasts.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048500"/>
            <a:ext cx="1866900" cy="2076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2500" b="0" i="0">
                <a:solidFill>
                  <a:srgbClr val="F5F5F7"/>
                </a:solidFill>
                <a:latin typeface="Pretendard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0325100"/>
            <a:ext cx="3171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DAY STREAK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1144250"/>
            <a:ext cx="457200" cy="457200"/>
          </a:xfrm>
          <a:prstGeom prst="ellipse">
            <a:avLst/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8350" y="11144250"/>
            <a:ext cx="457200" cy="457200"/>
          </a:xfrm>
          <a:prstGeom prst="ellipse">
            <a:avLst/>
          </a:prstGeom>
          <a:solidFill>
            <a:srgbClr val="147CE5">
              <a:alpha val="5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62300" y="11144250"/>
            <a:ext cx="457200" cy="457200"/>
          </a:xfrm>
          <a:prstGeom prst="ellipse">
            <a:avLst/>
          </a:prstGeom>
          <a:solidFill>
            <a:srgbClr val="147CE5">
              <a:alpha val="5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86250" y="11144250"/>
            <a:ext cx="457200" cy="457200"/>
          </a:xfrm>
          <a:prstGeom prst="ellipse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10200" y="11144250"/>
            <a:ext cx="457200" cy="457200"/>
          </a:xfrm>
          <a:prstGeom prst="ellipse">
            <a:avLst/>
          </a:prstGeom>
          <a:solidFill>
            <a:srgbClr val="147CE5">
              <a:alpha val="6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4150" y="11144250"/>
            <a:ext cx="457200" cy="457200"/>
          </a:xfrm>
          <a:prstGeom prst="ellipse">
            <a:avLst/>
          </a:prstGeom>
          <a:solidFill>
            <a:srgbClr val="147CE5">
              <a:alpha val="6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58100" y="11144250"/>
            <a:ext cx="457200" cy="457200"/>
          </a:xfrm>
          <a:prstGeom prst="ellipse">
            <a:avLst/>
          </a:prstGeom>
          <a:solidFill>
            <a:srgbClr val="147CE5">
              <a:alpha val="6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12363450"/>
            <a:ext cx="457200" cy="457200"/>
          </a:xfrm>
          <a:prstGeom prst="ellipse">
            <a:avLst/>
          </a:prstGeom>
          <a:solidFill>
            <a:srgbClr val="147CE5">
              <a:alpha val="6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8350" y="12363450"/>
            <a:ext cx="457200" cy="457200"/>
          </a:xfrm>
          <a:prstGeom prst="ellipse">
            <a:avLst/>
          </a:prstGeom>
          <a:solidFill>
            <a:srgbClr val="147CE5">
              <a:alpha val="7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62300" y="12363450"/>
            <a:ext cx="457200" cy="457200"/>
          </a:xfrm>
          <a:prstGeom prst="ellipse">
            <a:avLst/>
          </a:prstGeom>
          <a:solidFill>
            <a:srgbClr val="147CE5">
              <a:alpha val="7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86250" y="12363450"/>
            <a:ext cx="457200" cy="457200"/>
          </a:xfrm>
          <a:prstGeom prst="ellipse">
            <a:avLst/>
          </a:prstGeom>
          <a:solidFill>
            <a:srgbClr val="147CE5">
              <a:alpha val="7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0200" y="12363450"/>
            <a:ext cx="457200" cy="457200"/>
          </a:xfrm>
          <a:prstGeom prst="ellipse">
            <a:avLst/>
          </a:prstGeom>
          <a:solidFill>
            <a:srgbClr val="147CE5">
              <a:alpha val="7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4150" y="12363450"/>
            <a:ext cx="457200" cy="457200"/>
          </a:xfrm>
          <a:prstGeom prst="ellipse">
            <a:avLst/>
          </a:prstGeom>
          <a:solidFill>
            <a:srgbClr val="147CE5">
              <a:alpha val="7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58100" y="12363450"/>
            <a:ext cx="457200" cy="457200"/>
          </a:xfrm>
          <a:prstGeom prst="ellipse">
            <a:avLst/>
          </a:prstGeom>
          <a:solidFill>
            <a:srgbClr val="147CE5">
              <a:alpha val="8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13582650"/>
            <a:ext cx="457200" cy="457200"/>
          </a:xfrm>
          <a:prstGeom prst="ellipse">
            <a:avLst/>
          </a:prstGeom>
          <a:solidFill>
            <a:srgbClr val="147CE5">
              <a:alpha val="8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38350" y="13582650"/>
            <a:ext cx="457200" cy="457200"/>
          </a:xfrm>
          <a:prstGeom prst="ellipse">
            <a:avLst/>
          </a:prstGeom>
          <a:solidFill>
            <a:srgbClr val="147CE5">
              <a:alpha val="8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62300" y="13582650"/>
            <a:ext cx="457200" cy="457200"/>
          </a:xfrm>
          <a:prstGeom prst="ellipse">
            <a:avLst/>
          </a:prstGeom>
          <a:solidFill>
            <a:srgbClr val="147CE5">
              <a:alpha val="8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86250" y="13582650"/>
            <a:ext cx="457200" cy="457200"/>
          </a:xfrm>
          <a:prstGeom prst="ellipse">
            <a:avLst/>
          </a:prstGeom>
          <a:solidFill>
            <a:srgbClr val="147CE5">
              <a:alpha val="8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10200" y="13582650"/>
            <a:ext cx="457200" cy="457200"/>
          </a:xfrm>
          <a:prstGeom prst="ellipse">
            <a:avLst/>
          </a:prstGeom>
          <a:solidFill>
            <a:srgbClr val="147CE5">
              <a:alpha val="9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150" y="13582650"/>
            <a:ext cx="457200" cy="457200"/>
          </a:xfrm>
          <a:prstGeom prst="ellipse">
            <a:avLst/>
          </a:prstGeom>
          <a:solidFill>
            <a:srgbClr val="147CE5">
              <a:alpha val="9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58100" y="13582650"/>
            <a:ext cx="457200" cy="457200"/>
          </a:xfrm>
          <a:prstGeom prst="ellipse">
            <a:avLst/>
          </a:prstGeom>
          <a:solidFill>
            <a:srgbClr val="F5F5F7">
              <a:alpha val="9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219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3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13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7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9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73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9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9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5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587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9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9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93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9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47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5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9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9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9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013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9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9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5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6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7" dur="1" fill="hold">
                        <p:stCondLst>
                          <p:cond delay="0"/>
                        </p:stCondLst>
                      </p:cTn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8" dur="1" fill="hold">
                        <p:stCondLst>
                          <p:cond delay="0"/>
                        </p:stCondLst>
                      </p:cTn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67000"/>
            <a:ext cx="3990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PROOF ·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65722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24550"/>
            <a:ext cx="7677150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Progress built with PULSE shows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up in the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153400"/>
            <a:ext cx="2495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6725" y="8153400"/>
            <a:ext cx="4200525" cy="361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FIRST 5K  ·  +32%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1191875"/>
            <a:ext cx="628650" cy="809625"/>
          </a:xfrm>
          <a:prstGeom prst="rect">
            <a:avLst/>
          </a:prstGeom>
          <a:solidFill>
            <a:srgbClr val="147CE5">
              <a:alpha val="5215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5350" y="12192000"/>
            <a:ext cx="666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10934700"/>
            <a:ext cx="628650" cy="1066800"/>
          </a:xfrm>
          <a:prstGeom prst="rect">
            <a:avLst/>
          </a:prstGeom>
          <a:solidFill>
            <a:srgbClr val="147CE5">
              <a:alpha val="56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7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5600" y="10639425"/>
            <a:ext cx="628650" cy="1362075"/>
          </a:xfrm>
          <a:prstGeom prst="rect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8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10315575"/>
            <a:ext cx="628650" cy="1685925"/>
          </a:xfrm>
          <a:prstGeom prst="rect">
            <a:avLst/>
          </a:prstGeom>
          <a:solidFill>
            <a:srgbClr val="147CE5">
              <a:alpha val="65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9525" y="12192000"/>
            <a:ext cx="762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0" y="9963150"/>
            <a:ext cx="628650" cy="2038350"/>
          </a:xfrm>
          <a:prstGeom prst="rect">
            <a:avLst/>
          </a:prstGeom>
          <a:solidFill>
            <a:srgbClr val="147CE5">
              <a:alpha val="713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96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67400" y="9572625"/>
            <a:ext cx="628650" cy="2428875"/>
          </a:xfrm>
          <a:prstGeom prst="rect">
            <a:avLst/>
          </a:prstGeom>
          <a:solidFill>
            <a:srgbClr val="147CE5">
              <a:alpha val="772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0725" y="12192000"/>
            <a:ext cx="752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9182100"/>
            <a:ext cx="628650" cy="2819400"/>
          </a:xfrm>
          <a:prstGeom prst="rect">
            <a:avLst/>
          </a:prstGeom>
          <a:solidFill>
            <a:srgbClr val="147CE5">
              <a:alpha val="83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8600" y="8763000"/>
            <a:ext cx="628650" cy="32385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1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W8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2001500"/>
            <a:ext cx="756285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3030200"/>
            <a:ext cx="447675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“I FINALLY RAN</a:t>
            </a:r>
          </a:p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MY FIRST 5K.”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14573250"/>
            <a:ext cx="4905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VERIFIED BETA USER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750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0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86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86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8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86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86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86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86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86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9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53000"/>
            <a:ext cx="5924550" cy="2457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TIME TO</a:t>
            </a:r>
          </a:p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763000"/>
            <a:ext cx="712470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E8F2FF"/>
                </a:solidFill>
                <a:latin typeface="Pretendard"/>
              </a:rPr>
              <a:t>your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239500"/>
            <a:ext cx="5876925" cy="628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6300" b="0" i="0">
                <a:solidFill>
                  <a:srgbClr val="F5F5F7"/>
                </a:solidFill>
                <a:latin typeface="Pretendard"/>
              </a:rPr>
              <a:t>START FREE 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25350"/>
            <a:ext cx="5334000" cy="47625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049250"/>
            <a:ext cx="7658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D7E9FF"/>
                </a:solidFill>
                <a:latin typeface="Pretendard"/>
              </a:rPr>
              <a:t>7 DAYS FREE  ·  CANCEL ANYTIME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287500"/>
            <a:ext cx="30861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5F5F7"/>
                </a:solidFill>
                <a:latin typeface="Pretendard"/>
              </a:rPr>
              <a:t>PULSE.APP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28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86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