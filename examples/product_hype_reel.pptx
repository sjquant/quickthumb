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2762250"/>
            <a:ext cx="16383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01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7058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F4F9A"/>
                </a:solidFill>
                <a:latin typeface="Pretendard"/>
              </a:rPr>
              <a:t>NEW · PERSONAL FITNESS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4867275" cy="2371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TRAINING,</a:t>
            </a:r>
          </a:p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MADE</a:t>
            </a:r>
          </a:p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PERSONAL.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7248525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From heart rate to recovery, see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your rhythm at a glance.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4514850" cy="3714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F4F9A"/>
                </a:solidFill>
                <a:latin typeface="Pretendard"/>
              </a:rPr>
              <a:t>●  LIVE HEART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9696450"/>
            <a:ext cx="16383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ZONE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3086100" cy="1228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FF4F9A">
                      <a:alpha val="29803"/>
                    </a:srgbClr>
                  </a:glow>
                </a:effectLst>
                <a:latin typeface="Pretendard"/>
              </a:rPr>
              <a:t>148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3000" y="11715750"/>
            <a:ext cx="1076325" cy="3524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F4F9A"/>
                </a:solidFill>
                <a:latin typeface="Pretendard"/>
              </a:rPr>
              <a:t>BPM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763500"/>
            <a:ext cx="6515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HEART RATE  ·  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68770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PULSE · PERSONAL FITNESS OS</a:t>
            </a:r>
          </a:p>
        </p:txBody>
      </p:sp>
    </p:spTree>
  </p:cSld>
  <p:clrMapOvr>
    <a:masterClrMapping/>
  </p:clrMapOvr>
  <p:transition xmlns:p14="http://schemas.microsoft.com/office/powerpoint/2010/main" spd="med" advClick="1" advTm="4500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8950" y="2762250"/>
            <a:ext cx="169545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02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3390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9A6BFF"/>
                </a:solidFill>
                <a:latin typeface="Pretendard"/>
              </a:rPr>
              <a:t>THE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6286500" cy="2371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CONSISTENCY</a:t>
            </a:r>
          </a:p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NEEDS A</a:t>
            </a:r>
          </a:p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286500" cy="981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When feedback arrives late,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motivation follows.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334500"/>
            <a:ext cx="7620000" cy="1857375"/>
          </a:xfrm>
          <a:prstGeom prst="roundRect">
            <a:avLst>
              <a:gd name="adj" fmla="val 21538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3500" y="9858375"/>
            <a:ext cx="45434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AVERAGE DROP-OFF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10258425"/>
            <a:ext cx="2971800" cy="571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6150" b="0" i="0">
                <a:solidFill>
                  <a:srgbClr val="9A6BFF"/>
                </a:solidFill>
                <a:latin typeface="Pretendard"/>
              </a:rPr>
              <a:t>DAY 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11430000"/>
            <a:ext cx="7620000" cy="1857375"/>
          </a:xfrm>
          <a:prstGeom prst="roundRect">
            <a:avLst>
              <a:gd name="adj" fmla="val 21538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33500" y="11953875"/>
            <a:ext cx="34575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LIVE FEEDBACK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0825" y="11753850"/>
            <a:ext cx="1476375" cy="657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6750" b="0" i="0">
                <a:solidFill>
                  <a:srgbClr val="FF4F9A"/>
                </a:solidFill>
                <a:latin typeface="Pretendard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4962525" cy="819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LATE FEEDBACK KILLS</a:t>
            </a:r>
          </a:p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MOMENTUM.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7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7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2762250"/>
            <a:ext cx="17145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03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3000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5DE8FF"/>
                </a:solidFill>
                <a:latin typeface="Pretendard"/>
              </a:rPr>
              <a:t>MEET PULSE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7543800" cy="15716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050"/>
              </a:lnSpc>
            </a:pPr>
            <a:r>
              <a:rPr sz="7425" b="0" i="0">
                <a:solidFill>
                  <a:srgbClr val="FFFFFF"/>
                </a:solidFill>
                <a:latin typeface="Pretendard"/>
              </a:rPr>
              <a:t>FIND YOUR</a:t>
            </a:r>
          </a:p>
          <a:p>
            <a:pPr algn="l">
              <a:lnSpc>
                <a:spcPts val="7050"/>
              </a:lnSpc>
            </a:pPr>
            <a:r>
              <a:rPr sz="7425" b="0" i="0">
                <a:solidFill>
                  <a:srgbClr val="FFFFFF"/>
                </a:solidFill>
                <a:latin typeface="Pretendard"/>
              </a:rPr>
              <a:t>DAILY RHYTHM.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953250" cy="10572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Turn scattered signals into one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clear daily score.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24288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DE8FF"/>
                </a:solidFill>
                <a:latin typeface="Pretendard"/>
              </a:rPr>
              <a:t>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10401300"/>
            <a:ext cx="2257425" cy="1228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5DE8FF">
                      <a:alpha val="27843"/>
                    </a:srgbClr>
                  </a:glow>
                </a:effectLst>
                <a:latin typeface="Pretendard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1715750"/>
            <a:ext cx="120967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5DE8FF"/>
                </a:solidFill>
                <a:latin typeface="Pretendard"/>
              </a:rPr>
              <a:t>/ 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12192000"/>
            <a:ext cx="5019675" cy="7905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SLEEP 92 · ENERGY 81</a:t>
            </a:r>
          </a:p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STRESS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4249400"/>
            <a:ext cx="5848350" cy="819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READ TODAY'S BODY AT A</a:t>
            </a:r>
          </a:p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GLANCE.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7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81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0850" y="2762250"/>
            <a:ext cx="173355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04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35147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F4F9A"/>
                </a:solidFill>
                <a:latin typeface="Pretendard"/>
              </a:rPr>
              <a:t>01 · LIVE SYNC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5295900" cy="1485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75"/>
              </a:lnSpc>
            </a:pPr>
            <a:r>
              <a:rPr sz="6975" b="0" i="0">
                <a:solidFill>
                  <a:srgbClr val="FFFFFF"/>
                </a:solidFill>
                <a:latin typeface="Pretendard"/>
              </a:rPr>
              <a:t>NEVER MISS</a:t>
            </a:r>
          </a:p>
          <a:p>
            <a:pPr algn="l">
              <a:lnSpc>
                <a:spcPts val="6675"/>
              </a:lnSpc>
            </a:pPr>
            <a:r>
              <a:rPr sz="6975" b="0" i="0">
                <a:solidFill>
                  <a:srgbClr val="FFFFFF"/>
                </a:solidFill>
                <a:latin typeface="Pretendard"/>
              </a:rPr>
              <a:t>A BEAT.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115050" cy="10572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Track heart-rate zones and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workout intensity live.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38957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F4F9A"/>
                </a:solidFill>
                <a:latin typeface="Pretendard"/>
              </a:rPr>
              <a:t>LIVE HEART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9825" y="9696450"/>
            <a:ext cx="1857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SYNCED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3009900" cy="1209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FF4F9A">
                      <a:alpha val="27843"/>
                    </a:srgbClr>
                  </a:glow>
                </a:effectLst>
                <a:latin typeface="Pretendard"/>
              </a:rPr>
              <a:t>142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11563350"/>
            <a:ext cx="1076325" cy="3524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F4F9A"/>
                </a:solidFill>
                <a:latin typeface="Pretendard"/>
              </a:rPr>
              <a:t>BPM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192000"/>
            <a:ext cx="6667500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WARM-UP · FAT BURN · CARDIO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73152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APPLE WATCH · GALAXY WATCH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2762250"/>
            <a:ext cx="17145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05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34385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5DE8FF"/>
                </a:solidFill>
                <a:latin typeface="Pretendard"/>
              </a:rPr>
              <a:t>02 · AI COACH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7038975" cy="15144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AI SETS</a:t>
            </a:r>
          </a:p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TODAY'S PACE.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962775" cy="962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Adapt duration and intensity to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your recovery.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33337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DE8FF"/>
                </a:solidFill>
                <a:latin typeface="Pretendard"/>
              </a:rPr>
              <a:t>TODAY'S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9696450"/>
            <a:ext cx="12954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AUTO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2238375" cy="1228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5DE8FF">
                      <a:alpha val="27843"/>
                    </a:srgbClr>
                  </a:glow>
                </a:effectLst>
                <a:latin typeface="Pretendard"/>
              </a:rPr>
              <a:t>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750" y="11563350"/>
            <a:ext cx="485775" cy="3714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5DE8FF"/>
                </a:solidFill>
                <a:latin typeface="Pretendard"/>
              </a:rPr>
              <a:t>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192000"/>
            <a:ext cx="42386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24 MIN · MODERATE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7477125" cy="819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A COACHING PLAN THAT ADAPTS</a:t>
            </a:r>
          </a:p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EVERY DAY.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0375" y="2762250"/>
            <a:ext cx="172402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06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48196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C9FF63"/>
                </a:solidFill>
                <a:latin typeface="Pretendard"/>
              </a:rPr>
              <a:t>03 · SMART STREAK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7600950" cy="2286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525"/>
              </a:lnSpc>
            </a:pPr>
            <a:r>
              <a:rPr sz="6825" b="0" i="0">
                <a:solidFill>
                  <a:srgbClr val="FFFFFF"/>
                </a:solidFill>
                <a:latin typeface="Pretendard"/>
              </a:rPr>
              <a:t>TURN THREE DAYS</a:t>
            </a:r>
          </a:p>
          <a:p>
            <a:pPr algn="l">
              <a:lnSpc>
                <a:spcPts val="6525"/>
              </a:lnSpc>
            </a:pPr>
            <a:r>
              <a:rPr sz="6825" b="0" i="0">
                <a:solidFill>
                  <a:srgbClr val="FFFFFF"/>
                </a:solidFill>
                <a:latin typeface="Pretendard"/>
              </a:rPr>
              <a:t>INTO</a:t>
            </a:r>
          </a:p>
          <a:p>
            <a:pPr algn="l">
              <a:lnSpc>
                <a:spcPts val="6525"/>
              </a:lnSpc>
            </a:pPr>
            <a:r>
              <a:rPr sz="6825" b="0" i="0">
                <a:solidFill>
                  <a:srgbClr val="FFFFFF"/>
                </a:solidFill>
                <a:latin typeface="Pretendard"/>
              </a:rPr>
              <a:t>TWENTY-ONE.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7029450" cy="962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Link small wins into a habit that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lasts.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3248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CONSISTENCY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5625" y="9696450"/>
            <a:ext cx="11715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BEST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1876425" cy="1209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C9FF63">
                      <a:alpha val="23921"/>
                    </a:srgbClr>
                  </a:glow>
                </a:effectLst>
                <a:latin typeface="Pretendard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5750" y="11715750"/>
            <a:ext cx="3162300" cy="3714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C9FF63"/>
                </a:solidFill>
                <a:latin typeface="Pretendard"/>
              </a:rPr>
              <a:t>DAY STREAK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763500"/>
            <a:ext cx="4124325" cy="3714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●  ●  ●  ●  ●  ●  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7191375" cy="819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WHEN CONSISTENCY IS VISIBLE,</a:t>
            </a:r>
          </a:p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HABITS KEEP GOING.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PULSE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8950" y="2762250"/>
            <a:ext cx="169545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07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48482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9A6BFF"/>
                </a:solidFill>
                <a:latin typeface="Pretendard"/>
              </a:rPr>
              <a:t>4.9 · 2,841 REVIEWS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6067425" cy="1600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125"/>
              </a:lnSpc>
            </a:pPr>
            <a:r>
              <a:rPr sz="7500" b="0" i="0">
                <a:solidFill>
                  <a:srgbClr val="FFFFFF"/>
                </a:solidFill>
                <a:latin typeface="Pretendard"/>
              </a:rPr>
              <a:t>GO LONGER.</a:t>
            </a:r>
          </a:p>
          <a:p>
            <a:pPr algn="l">
              <a:lnSpc>
                <a:spcPts val="7125"/>
              </a:lnSpc>
            </a:pPr>
            <a:r>
              <a:rPr sz="7500" b="0" i="0">
                <a:solidFill>
                  <a:srgbClr val="FFFFFF"/>
                </a:solidFill>
                <a:latin typeface="Pretendard"/>
              </a:rPr>
              <a:t>GO FARTHER.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7439025" cy="10572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Progress built with PULSE shows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up in the numbers.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048750"/>
            <a:ext cx="7620000" cy="4429125"/>
          </a:xfrm>
          <a:prstGeom prst="roundRect">
            <a:avLst>
              <a:gd name="adj" fmla="val 9032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3500" y="9563100"/>
            <a:ext cx="41052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VERIFIED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3250" y="9486900"/>
            <a:ext cx="1123950" cy="504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5400" b="0" i="0">
                <a:solidFill>
                  <a:srgbClr val="9A6BFF"/>
                </a:solidFill>
                <a:latin typeface="Pretendard"/>
              </a:rPr>
              <a:t>4.9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210800"/>
            <a:ext cx="230505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10858500"/>
            <a:ext cx="4838700" cy="1181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475"/>
              </a:lnSpc>
            </a:pPr>
            <a:r>
              <a:rPr sz="5100" b="0" i="0">
                <a:solidFill>
                  <a:srgbClr val="FFFFFF"/>
                </a:solidFill>
                <a:latin typeface="Pretendard"/>
              </a:rPr>
              <a:t>“I FINALLY RAN</a:t>
            </a:r>
          </a:p>
          <a:p>
            <a:pPr algn="l">
              <a:lnSpc>
                <a:spcPts val="5475"/>
              </a:lnSpc>
            </a:pPr>
            <a:r>
              <a:rPr sz="5100" b="0" i="0">
                <a:solidFill>
                  <a:srgbClr val="FFFFFF"/>
                </a:solidFill>
                <a:latin typeface="Pretendard"/>
              </a:rPr>
              <a:t>MY FIRST 5K.”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12744450"/>
            <a:ext cx="5076825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BETA TESTER  ·  WEEK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6353175" cy="819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YOUR NEXT PERSONAL BEST</a:t>
            </a:r>
          </a:p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STARTS HERE.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7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81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375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FE4F9A"/>
              </a:gs>
              <a:gs pos="100000">
                <a:srgbClr val="9A6AFE"/>
              </a:gs>
            </a:gsLst>
            <a:lin ang="6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D640A9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D640A9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D640A9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D640A9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D640A9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D640A9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D640A9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62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090711"/>
                </a:solidFill>
                <a:latin typeface="Roboto"/>
              </a:rPr>
              <a:t>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9900" y="2762250"/>
            <a:ext cx="17145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090711"/>
                </a:solidFill>
                <a:latin typeface="Pretendard"/>
              </a:rPr>
              <a:t>08 / 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5250"/>
            <a:ext cx="54006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090711"/>
                </a:solidFill>
                <a:latin typeface="Pretendard"/>
              </a:rPr>
              <a:t>PULSE · START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62500"/>
            <a:ext cx="4667250" cy="1990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850"/>
              </a:lnSpc>
            </a:pPr>
            <a:r>
              <a:rPr sz="9300" b="0" i="0">
                <a:solidFill>
                  <a:srgbClr val="090711"/>
                </a:solidFill>
                <a:latin typeface="Pretendard"/>
              </a:rPr>
              <a:t>TIME TO</a:t>
            </a:r>
          </a:p>
          <a:p>
            <a:pPr algn="l">
              <a:lnSpc>
                <a:spcPts val="8850"/>
              </a:lnSpc>
            </a:pPr>
            <a:r>
              <a:rPr sz="9300" b="0" i="0">
                <a:solidFill>
                  <a:srgbClr val="090711"/>
                </a:solidFill>
                <a:latin typeface="Pretendard"/>
              </a:rPr>
              <a:t>MOVE.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7667625"/>
            <a:ext cx="6858000" cy="1047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32112F"/>
                </a:solidFill>
                <a:latin typeface="Pretendard"/>
              </a:rPr>
              <a:t>The fastest way to understand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32112F"/>
                </a:solidFill>
                <a:latin typeface="Pretendard"/>
              </a:rPr>
              <a:t>your body.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9620250"/>
            <a:ext cx="7620000" cy="1257300"/>
          </a:xfrm>
          <a:prstGeom prst="roundRect">
            <a:avLst>
              <a:gd name="adj" fmla="val 50000"/>
            </a:avLst>
          </a:prstGeom>
          <a:solidFill>
            <a:srgbClr val="090711"/>
          </a:solidFill>
          <a:ln>
            <a:noFill/>
          </a:ln>
          <a:effectLst>
            <a:glow rad="571500">
              <a:srgbClr val="FFFFFF">
                <a:alpha val="17647"/>
              </a:srgbClr>
            </a:glow>
            <a:outerShdw blurRad="571500" dist="209550" dir="5400000" rotWithShape="0">
              <a:srgbClr val="3A0C4E">
                <a:alpha val="43921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4200" y="10058400"/>
            <a:ext cx="31908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Pretendard"/>
              </a:rPr>
              <a:t>START FREE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11620500"/>
            <a:ext cx="5943600" cy="819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090711"/>
                </a:solidFill>
                <a:latin typeface="Pretendard"/>
              </a:rPr>
              <a:t>4.9 RATING · 7 DAYS FREE ·</a:t>
            </a:r>
          </a:p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090711"/>
                </a:solidFill>
                <a:latin typeface="Pretendard"/>
              </a:rPr>
              <a:t>CANCEL ANYTIME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13811250"/>
            <a:ext cx="3771900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050" b="0" i="0">
                <a:solidFill>
                  <a:srgbClr val="090711"/>
                </a:solidFill>
                <a:latin typeface="Pretendard"/>
              </a:rPr>
              <a:t>PULSE.APP  ↗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28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2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8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375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1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