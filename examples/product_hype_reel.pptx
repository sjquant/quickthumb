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81250"/>
            <a:ext cx="16573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F5F5F7"/>
                </a:solidFill>
                <a:latin typeface="Roboto"/>
              </a:rP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43300"/>
            <a:ext cx="56959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PERSONAL FITNESS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86250"/>
            <a:ext cx="7810500" cy="1504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600"/>
              </a:lnSpc>
            </a:pPr>
            <a:r>
              <a:rPr sz="7275" b="0" i="0">
                <a:solidFill>
                  <a:srgbClr val="F5F5F7"/>
                </a:solidFill>
                <a:latin typeface="Pretendard"/>
              </a:rPr>
              <a:t>TRAINING,</a:t>
            </a:r>
          </a:p>
          <a:p>
            <a:pPr algn="l">
              <a:lnSpc>
                <a:spcPts val="6600"/>
              </a:lnSpc>
            </a:pPr>
            <a:r>
              <a:rPr sz="7275" b="0" i="0">
                <a:solidFill>
                  <a:srgbClr val="F5F5F7"/>
                </a:solidFill>
                <a:latin typeface="Pretendard"/>
              </a:rPr>
              <a:t>MADE PERSONAL.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800850"/>
            <a:ext cx="7458075" cy="10763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From heart rate to recovery, see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your rhythm at a glance.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572500"/>
            <a:ext cx="4191000" cy="17240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0" b="0" i="0">
                <a:solidFill>
                  <a:srgbClr val="F5F5F7"/>
                </a:solidFill>
                <a:latin typeface="Pretendard"/>
              </a:rPr>
              <a:t>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11334750"/>
            <a:ext cx="27813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F5F5F7"/>
                </a:solidFill>
                <a:latin typeface="Pretendard"/>
              </a:rPr>
              <a:t>BPM  · 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2858750"/>
            <a:ext cx="133350" cy="38100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8750" y="12734925"/>
            <a:ext cx="133350" cy="62865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43100" y="12506325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57450" y="12001500"/>
            <a:ext cx="133350" cy="20955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2592050"/>
            <a:ext cx="133350" cy="923925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6150" y="12801600"/>
            <a:ext cx="133350" cy="504825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0500" y="12696825"/>
            <a:ext cx="133350" cy="714375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4850" y="12277725"/>
            <a:ext cx="133350" cy="1552575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12734925"/>
            <a:ext cx="133350" cy="62865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43550" y="12877800"/>
            <a:ext cx="133350" cy="352425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57900" y="12573000"/>
            <a:ext cx="133350" cy="962025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72250" y="12192000"/>
            <a:ext cx="133350" cy="17145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86600" y="12649200"/>
            <a:ext cx="133350" cy="80010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00950" y="12839700"/>
            <a:ext cx="133350" cy="41910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5300" y="12744450"/>
            <a:ext cx="133350" cy="60960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29650" y="1240155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F5F5F7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 advTm="4688" p14:dur="10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98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86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98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98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57500"/>
            <a:ext cx="34861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00450"/>
            <a:ext cx="7839075" cy="1504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600"/>
              </a:lnSpc>
            </a:pPr>
            <a:r>
              <a:rPr sz="7200" b="0" i="0">
                <a:solidFill>
                  <a:srgbClr val="F5F5F7"/>
                </a:solidFill>
                <a:latin typeface="Pretendard"/>
              </a:rPr>
              <a:t>CONSISTENCY</a:t>
            </a:r>
          </a:p>
          <a:p>
            <a:pPr algn="l">
              <a:lnSpc>
                <a:spcPts val="6600"/>
              </a:lnSpc>
            </a:pPr>
            <a:r>
              <a:rPr sz="7200" b="0" i="0">
                <a:solidFill>
                  <a:srgbClr val="F5F5F7"/>
                </a:solidFill>
                <a:latin typeface="Pretendard"/>
              </a:rPr>
              <a:t>NEEDS A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15050"/>
            <a:ext cx="6477000" cy="990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When feedback arrives late,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motivation follows.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334500"/>
            <a:ext cx="101917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096500"/>
            <a:ext cx="7429500" cy="38100"/>
          </a:xfrm>
          <a:prstGeom prst="rect">
            <a:avLst/>
          </a:prstGeom>
          <a:solidFill>
            <a:srgbClr val="30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0096500"/>
            <a:ext cx="3714750" cy="38100"/>
          </a:xfrm>
          <a:prstGeom prst="rect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9700" y="9991725"/>
            <a:ext cx="247650" cy="247650"/>
          </a:xfrm>
          <a:prstGeom prst="ellipse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6350" y="10534650"/>
            <a:ext cx="5048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F5F5F7"/>
                </a:solidFill>
                <a:latin typeface="Pretendard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2647950" y="9991725"/>
            <a:ext cx="247650" cy="247650"/>
          </a:xfrm>
          <a:prstGeom prst="ellipse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6025" y="10534650"/>
            <a:ext cx="56197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F5F5F7"/>
                </a:solidFill>
                <a:latin typeface="Pretendard"/>
              </a:rPr>
              <a:t>02</a:t>
            </a:r>
          </a:p>
        </p:txBody>
      </p:sp>
      <p:sp>
        <p:nvSpPr>
          <p:cNvPr id="13" name="Oval 12"/>
          <p:cNvSpPr/>
          <p:nvPr/>
        </p:nvSpPr>
        <p:spPr>
          <a:xfrm>
            <a:off x="3886200" y="9991725"/>
            <a:ext cx="247650" cy="247650"/>
          </a:xfrm>
          <a:prstGeom prst="ellipse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10534650"/>
            <a:ext cx="5810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F5F5F7"/>
                </a:solidFill>
                <a:latin typeface="Pretendard"/>
              </a:rPr>
              <a:t>03</a:t>
            </a:r>
          </a:p>
        </p:txBody>
      </p:sp>
      <p:sp>
        <p:nvSpPr>
          <p:cNvPr id="15" name="Oval 14"/>
          <p:cNvSpPr/>
          <p:nvPr/>
        </p:nvSpPr>
        <p:spPr>
          <a:xfrm>
            <a:off x="5172075" y="10039350"/>
            <a:ext cx="152400" cy="152400"/>
          </a:xfrm>
          <a:prstGeom prst="ellipse">
            <a:avLst/>
          </a:prstGeom>
          <a:solidFill>
            <a:srgbClr val="30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3475" y="10534650"/>
            <a:ext cx="60007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04</a:t>
            </a:r>
          </a:p>
        </p:txBody>
      </p:sp>
      <p:sp>
        <p:nvSpPr>
          <p:cNvPr id="17" name="Oval 16"/>
          <p:cNvSpPr/>
          <p:nvPr/>
        </p:nvSpPr>
        <p:spPr>
          <a:xfrm>
            <a:off x="6410325" y="10039350"/>
            <a:ext cx="152400" cy="152400"/>
          </a:xfrm>
          <a:prstGeom prst="ellipse">
            <a:avLst/>
          </a:prstGeom>
          <a:solidFill>
            <a:srgbClr val="30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1250" y="10534650"/>
            <a:ext cx="5810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05</a:t>
            </a:r>
          </a:p>
        </p:txBody>
      </p:sp>
      <p:sp>
        <p:nvSpPr>
          <p:cNvPr id="19" name="Oval 18"/>
          <p:cNvSpPr/>
          <p:nvPr/>
        </p:nvSpPr>
        <p:spPr>
          <a:xfrm>
            <a:off x="7648575" y="10039350"/>
            <a:ext cx="152400" cy="152400"/>
          </a:xfrm>
          <a:prstGeom prst="ellipse">
            <a:avLst/>
          </a:prstGeom>
          <a:solidFill>
            <a:srgbClr val="30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500" y="10534650"/>
            <a:ext cx="5905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9791700"/>
            <a:ext cx="76200" cy="66675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11811000"/>
            <a:ext cx="62484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FEEDBACK ARRIVES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2382500"/>
            <a:ext cx="6867525" cy="1038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0" b="0" i="0">
                <a:solidFill>
                  <a:srgbClr val="5EA8FF"/>
                </a:solidFill>
                <a:latin typeface="Pretendard"/>
              </a:rPr>
              <a:t>TOO LATE</a:t>
            </a:r>
          </a:p>
        </p:txBody>
      </p:sp>
    </p:spTree>
  </p:cSld>
  <p:clrMapOvr>
    <a:masterClrMapping/>
  </p:clrMapOvr>
  <p:transition xmlns:p14="http://schemas.microsoft.com/office/powerpoint/2010/main" spd="fast" advClick="1" advTm="4219" p14:dur="469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398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86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9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98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86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98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7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98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3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98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98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67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98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33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98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98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86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0"/>
                        </p:stCondLst>
                      </p:cTn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2" dur="1" fill="hold">
                        <p:stCondLst>
                          <p:cond delay="0"/>
                        </p:stCondLst>
                      </p:cTn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3" dur="1" fill="hold">
                        <p:stCondLst>
                          <p:cond delay="0"/>
                        </p:stCondLst>
                      </p:cTn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4" dur="1" fill="hold">
                        <p:stCondLst>
                          <p:cond delay="0"/>
                        </p:stCondLst>
                      </p:cTn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5" dur="1" fill="hold">
                        <p:stCondLst>
                          <p:cond delay="0"/>
                        </p:stCondLst>
                      </p:cTn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6" dur="1" fill="hold">
                        <p:stCondLst>
                          <p:cond delay="0"/>
                        </p:stCondLst>
                      </p:cTn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76500"/>
            <a:ext cx="30861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MEET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9450"/>
            <a:ext cx="7791450" cy="1695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500"/>
              </a:lnSpc>
            </a:pPr>
            <a:r>
              <a:rPr sz="8025" b="0" i="0">
                <a:solidFill>
                  <a:srgbClr val="F5F5F7"/>
                </a:solidFill>
                <a:latin typeface="Pretendard"/>
              </a:rPr>
              <a:t>FIND YOUR</a:t>
            </a:r>
          </a:p>
          <a:p>
            <a:pPr algn="l">
              <a:lnSpc>
                <a:spcPts val="7500"/>
              </a:lnSpc>
            </a:pPr>
            <a:r>
              <a:rPr sz="8025" b="0" i="0">
                <a:solidFill>
                  <a:srgbClr val="F5F5F7"/>
                </a:solidFill>
                <a:latin typeface="Pretendard"/>
              </a:rPr>
              <a:t>DAILY RHYTHM.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34050"/>
            <a:ext cx="7191375" cy="1085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Turn scattered signals into one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clear daily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734300"/>
            <a:ext cx="14573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SLEEP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4175" y="7734300"/>
            <a:ext cx="5810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3600" b="0" i="0">
                <a:solidFill>
                  <a:srgbClr val="F5F5F7"/>
                </a:solidFill>
                <a:latin typeface="Pretendard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0" y="7943850"/>
            <a:ext cx="3676650" cy="95250"/>
          </a:xfrm>
          <a:prstGeom prst="rect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8610600"/>
            <a:ext cx="19050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850" y="8610600"/>
            <a:ext cx="5143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3600" b="0" i="0">
                <a:solidFill>
                  <a:srgbClr val="F5F5F7"/>
                </a:solidFill>
                <a:latin typeface="Pretendard"/>
              </a:rPr>
              <a:t>81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0" y="8820150"/>
            <a:ext cx="3238500" cy="95250"/>
          </a:xfrm>
          <a:prstGeom prst="rect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486900"/>
            <a:ext cx="18478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STRESS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4650" y="9486900"/>
            <a:ext cx="5905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3600" b="0" i="0">
                <a:solidFill>
                  <a:srgbClr val="F5F5F7"/>
                </a:solidFill>
                <a:latin typeface="Pretendard"/>
              </a:rPr>
              <a:t>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0" y="9696450"/>
            <a:ext cx="962025" cy="95250"/>
          </a:xfrm>
          <a:prstGeom prst="rect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10515600"/>
            <a:ext cx="6896100" cy="28575"/>
          </a:xfrm>
          <a:prstGeom prst="rect">
            <a:avLst/>
          </a:prstGeom>
          <a:solidFill>
            <a:srgbClr val="30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76500" y="9944100"/>
            <a:ext cx="5334000" cy="5334000"/>
          </a:xfrm>
          <a:prstGeom prst="ellipse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3275" y="11144250"/>
            <a:ext cx="3609975" cy="2009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1750" b="0" i="0">
                <a:solidFill>
                  <a:srgbClr val="F5F5F7"/>
                </a:solidFill>
                <a:latin typeface="Pretendard"/>
              </a:rPr>
              <a:t>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5150" y="14039850"/>
            <a:ext cx="4076700" cy="3905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5EA8FF"/>
                </a:solidFill>
                <a:latin typeface="Pretendard"/>
              </a:rPr>
              <a:t>RECOVERY / 100</a:t>
            </a:r>
          </a:p>
        </p:txBody>
      </p:sp>
    </p:spTree>
  </p:cSld>
  <p:clrMapOvr>
    <a:masterClrMapping/>
  </p:clrMapOvr>
  <p:transition xmlns:p14="http://schemas.microsoft.com/office/powerpoint/2010/main" spd="fast" advClick="1" advTm="4219" p14:dur="469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98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86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9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98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86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98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86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98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86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86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98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0"/>
                        </p:stCondLst>
                      </p:cTn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2" dur="1" fill="hold">
                        <p:stCondLst>
                          <p:cond delay="0"/>
                        </p:stCondLst>
                      </p:cTn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3" dur="1" fill="hold">
                        <p:stCondLst>
                          <p:cond delay="0"/>
                        </p:stCondLst>
                      </p:cTn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4" dur="1" fill="hold">
                        <p:stCondLst>
                          <p:cond delay="0"/>
                        </p:stCondLst>
                      </p:cTn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76500"/>
            <a:ext cx="36385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01 · LIVE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9450"/>
            <a:ext cx="5924550" cy="1695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500"/>
              </a:lnSpc>
            </a:pPr>
            <a:r>
              <a:rPr sz="8100" b="0" i="0">
                <a:solidFill>
                  <a:srgbClr val="F5F5F7"/>
                </a:solidFill>
                <a:latin typeface="Pretendard"/>
              </a:rPr>
              <a:t>NEVER MISS</a:t>
            </a:r>
          </a:p>
          <a:p>
            <a:pPr algn="l">
              <a:lnSpc>
                <a:spcPts val="7500"/>
              </a:lnSpc>
            </a:pPr>
            <a:r>
              <a:rPr sz="8100" b="0" i="0">
                <a:solidFill>
                  <a:srgbClr val="F5F5F7"/>
                </a:solidFill>
                <a:latin typeface="Pretendard"/>
              </a:rPr>
              <a:t>A BEAT.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34050"/>
            <a:ext cx="6315075" cy="1085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Track heart-rate zones and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workout intensity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287000"/>
            <a:ext cx="4095750" cy="1704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0" b="0" i="0">
                <a:solidFill>
                  <a:srgbClr val="F5F5F7"/>
                </a:solidFill>
                <a:latin typeface="Pretendard"/>
              </a:rPr>
              <a:t>142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8353425"/>
            <a:ext cx="133350" cy="447675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28750" y="8201025"/>
            <a:ext cx="133350" cy="74295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43100" y="7934325"/>
            <a:ext cx="133350" cy="1285875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57450" y="7334250"/>
            <a:ext cx="133350" cy="2476500"/>
          </a:xfrm>
          <a:prstGeom prst="roundRect">
            <a:avLst>
              <a:gd name="adj" fmla="val 50000"/>
            </a:avLst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8029575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6150" y="8277225"/>
            <a:ext cx="133350" cy="59055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0500" y="8153400"/>
            <a:ext cx="133350" cy="83820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4850" y="7658100"/>
            <a:ext cx="133350" cy="1828800"/>
          </a:xfrm>
          <a:prstGeom prst="roundRect">
            <a:avLst>
              <a:gd name="adj" fmla="val 50000"/>
            </a:avLst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8201025"/>
            <a:ext cx="133350" cy="74295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3550" y="8362950"/>
            <a:ext cx="133350" cy="41910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57900" y="8001000"/>
            <a:ext cx="133350" cy="114300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72250" y="7562850"/>
            <a:ext cx="133350" cy="2028825"/>
          </a:xfrm>
          <a:prstGeom prst="roundRect">
            <a:avLst>
              <a:gd name="adj" fmla="val 50000"/>
            </a:avLst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86600" y="8105775"/>
            <a:ext cx="133350" cy="942975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00950" y="8324850"/>
            <a:ext cx="133350" cy="495300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5300" y="8220075"/>
            <a:ext cx="133350" cy="714375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29650" y="7810500"/>
            <a:ext cx="133350" cy="1533525"/>
          </a:xfrm>
          <a:prstGeom prst="roundRect">
            <a:avLst>
              <a:gd name="adj" fmla="val 50000"/>
            </a:avLst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550" y="13068300"/>
            <a:ext cx="31813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BPM   ZONE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4287500"/>
            <a:ext cx="3686175" cy="3905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LIVE  /  SYNCED</a:t>
            </a:r>
          </a:p>
        </p:txBody>
      </p:sp>
    </p:spTree>
  </p:cSld>
  <p:clrMapOvr>
    <a:masterClrMapping/>
  </p:clrMapOvr>
  <p:transition xmlns:p14="http://schemas.microsoft.com/office/powerpoint/2010/main" spd="med" advClick="1" advTm="3750" p14:dur="10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98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86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9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9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98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97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98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76500"/>
            <a:ext cx="56007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02 · ADAPTIVE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9450"/>
            <a:ext cx="7648575" cy="1704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500"/>
              </a:lnSpc>
            </a:pPr>
            <a:r>
              <a:rPr sz="8100" b="0" i="0">
                <a:solidFill>
                  <a:srgbClr val="F5F5F7"/>
                </a:solidFill>
                <a:latin typeface="Pretendard"/>
              </a:rPr>
              <a:t>AI SETS</a:t>
            </a:r>
          </a:p>
          <a:p>
            <a:pPr algn="l">
              <a:lnSpc>
                <a:spcPts val="7500"/>
              </a:lnSpc>
            </a:pPr>
            <a:r>
              <a:rPr sz="8100" b="0" i="0">
                <a:solidFill>
                  <a:srgbClr val="F5F5F7"/>
                </a:solidFill>
                <a:latin typeface="Pretendard"/>
              </a:rPr>
              <a:t>TODAY'S 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34050"/>
            <a:ext cx="7181850" cy="981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Adapt duration and intensity to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your recovery.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8001000"/>
            <a:ext cx="7848600" cy="5334000"/>
          </a:xfrm>
          <a:prstGeom prst="rect">
            <a:avLst/>
          </a:prstGeom>
          <a:solidFill>
            <a:srgbClr val="16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7962900"/>
            <a:ext cx="7848600" cy="38100"/>
          </a:xfrm>
          <a:prstGeom prst="rect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7800" y="8477250"/>
            <a:ext cx="227647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9010650"/>
            <a:ext cx="5057775" cy="533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700" b="0" i="0">
                <a:solidFill>
                  <a:srgbClr val="7C838D"/>
                </a:solidFill>
                <a:latin typeface="Pretendard"/>
              </a:rPr>
              <a:t>32 MIN  · 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7800" y="9906000"/>
            <a:ext cx="6096000" cy="133350"/>
          </a:xfrm>
          <a:prstGeom prst="rect">
            <a:avLst/>
          </a:prstGeom>
          <a:solidFill>
            <a:srgbClr val="30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7800" y="10763250"/>
            <a:ext cx="17240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0075" y="10763250"/>
            <a:ext cx="3819525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3600" b="0" i="0">
                <a:solidFill>
                  <a:srgbClr val="5EA8FF"/>
                </a:solidFill>
                <a:latin typeface="Pretendard"/>
              </a:rPr>
              <a:t>↓  RECOVERY 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11296650"/>
            <a:ext cx="3124200" cy="6953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0" b="0" i="0">
                <a:solidFill>
                  <a:srgbClr val="F5F5F7"/>
                </a:solidFill>
                <a:latin typeface="Pretendard"/>
              </a:rPr>
              <a:t>24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7800" y="12477750"/>
            <a:ext cx="4572000" cy="133350"/>
          </a:xfrm>
          <a:prstGeom prst="rect">
            <a:avLst/>
          </a:prstGeom>
          <a:solidFill>
            <a:srgbClr val="147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3906500"/>
            <a:ext cx="757237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MODERATE  ·  AUTO-ADJUSTED</a:t>
            </a:r>
          </a:p>
        </p:txBody>
      </p:sp>
    </p:spTree>
  </p:cSld>
  <p:clrMapOvr>
    <a:masterClrMapping/>
  </p:clrMapOvr>
  <p:transition xmlns:p14="http://schemas.microsoft.com/office/powerpoint/2010/main" spd="fast" advClick="1" advTm="4219" p14:dur="46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398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86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9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86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398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98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0" fill="hold" grpId="0" nodeType="withEffect">
                                  <p:stCondLst>
                                    <p:cond delay="58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109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98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0"/>
                        </p:stCondLst>
                      </p:cTn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0"/>
                        </p:stCondLst>
                      </p:cTn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76500"/>
            <a:ext cx="49720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03 · SMART STREAK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9450"/>
            <a:ext cx="7753350" cy="1362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000"/>
              </a:lnSpc>
            </a:pPr>
            <a:r>
              <a:rPr sz="6525" b="0" i="0">
                <a:solidFill>
                  <a:srgbClr val="F5F5F7"/>
                </a:solidFill>
                <a:latin typeface="Pretendard"/>
              </a:rPr>
              <a:t>TURN THREE DAYS</a:t>
            </a:r>
          </a:p>
          <a:p>
            <a:pPr algn="l">
              <a:lnSpc>
                <a:spcPts val="6000"/>
              </a:lnSpc>
            </a:pPr>
            <a:r>
              <a:rPr sz="6525" b="0" i="0">
                <a:solidFill>
                  <a:srgbClr val="F5F5F7"/>
                </a:solidFill>
                <a:latin typeface="Pretendard"/>
              </a:rPr>
              <a:t>INTO TWENTY-ONE.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29250"/>
            <a:ext cx="7248525" cy="971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Link small wins into a habit that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lasts.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048500"/>
            <a:ext cx="3057525" cy="2047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500" b="0" i="0">
                <a:solidFill>
                  <a:srgbClr val="F5F5F7"/>
                </a:solidFill>
                <a:latin typeface="Pretendard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0325100"/>
            <a:ext cx="31718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DAY STREAK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1144250"/>
            <a:ext cx="457200" cy="457200"/>
          </a:xfrm>
          <a:prstGeom prst="ellipse">
            <a:avLst/>
          </a:prstGeom>
          <a:solidFill>
            <a:srgbClr val="147CE5">
              <a:alpha val="5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38350" y="11144250"/>
            <a:ext cx="457200" cy="457200"/>
          </a:xfrm>
          <a:prstGeom prst="ellipse">
            <a:avLst/>
          </a:prstGeom>
          <a:solidFill>
            <a:srgbClr val="147CE5">
              <a:alpha val="568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62300" y="11144250"/>
            <a:ext cx="457200" cy="457200"/>
          </a:xfrm>
          <a:prstGeom prst="ellipse">
            <a:avLst/>
          </a:prstGeom>
          <a:solidFill>
            <a:srgbClr val="147CE5">
              <a:alpha val="5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86250" y="11144250"/>
            <a:ext cx="457200" cy="457200"/>
          </a:xfrm>
          <a:prstGeom prst="ellipse">
            <a:avLst/>
          </a:prstGeom>
          <a:solidFill>
            <a:srgbClr val="147CE5">
              <a:alpha val="607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10200" y="11144250"/>
            <a:ext cx="457200" cy="457200"/>
          </a:xfrm>
          <a:prstGeom prst="ellipse">
            <a:avLst/>
          </a:prstGeom>
          <a:solidFill>
            <a:srgbClr val="147CE5">
              <a:alpha val="627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4150" y="11144250"/>
            <a:ext cx="457200" cy="457200"/>
          </a:xfrm>
          <a:prstGeom prst="ellipse">
            <a:avLst/>
          </a:prstGeom>
          <a:solidFill>
            <a:srgbClr val="147CE5">
              <a:alpha val="647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58100" y="11144250"/>
            <a:ext cx="457200" cy="457200"/>
          </a:xfrm>
          <a:prstGeom prst="ellipse">
            <a:avLst/>
          </a:prstGeom>
          <a:solidFill>
            <a:srgbClr val="147CE5">
              <a:alpha val="66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12363450"/>
            <a:ext cx="457200" cy="457200"/>
          </a:xfrm>
          <a:prstGeom prst="ellipse">
            <a:avLst/>
          </a:prstGeom>
          <a:solidFill>
            <a:srgbClr val="147CE5">
              <a:alpha val="6862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38350" y="12363450"/>
            <a:ext cx="457200" cy="457200"/>
          </a:xfrm>
          <a:prstGeom prst="ellipse">
            <a:avLst/>
          </a:prstGeom>
          <a:solidFill>
            <a:srgbClr val="147CE5">
              <a:alpha val="7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62300" y="12363450"/>
            <a:ext cx="457200" cy="457200"/>
          </a:xfrm>
          <a:prstGeom prst="ellipse">
            <a:avLst/>
          </a:prstGeom>
          <a:solidFill>
            <a:srgbClr val="147CE5">
              <a:alpha val="729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86250" y="12363450"/>
            <a:ext cx="457200" cy="457200"/>
          </a:xfrm>
          <a:prstGeom prst="ellipse">
            <a:avLst/>
          </a:prstGeom>
          <a:solidFill>
            <a:srgbClr val="147CE5">
              <a:alpha val="7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10200" y="12363450"/>
            <a:ext cx="457200" cy="457200"/>
          </a:xfrm>
          <a:prstGeom prst="ellipse">
            <a:avLst/>
          </a:prstGeom>
          <a:solidFill>
            <a:srgbClr val="147CE5">
              <a:alpha val="768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4150" y="12363450"/>
            <a:ext cx="457200" cy="457200"/>
          </a:xfrm>
          <a:prstGeom prst="ellipse">
            <a:avLst/>
          </a:prstGeom>
          <a:solidFill>
            <a:srgbClr val="147CE5">
              <a:alpha val="788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58100" y="12363450"/>
            <a:ext cx="457200" cy="457200"/>
          </a:xfrm>
          <a:prstGeom prst="ellipse">
            <a:avLst/>
          </a:prstGeom>
          <a:solidFill>
            <a:srgbClr val="147CE5">
              <a:alpha val="807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13582650"/>
            <a:ext cx="457200" cy="457200"/>
          </a:xfrm>
          <a:prstGeom prst="ellipse">
            <a:avLst/>
          </a:prstGeom>
          <a:solidFill>
            <a:srgbClr val="147CE5">
              <a:alpha val="827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38350" y="13582650"/>
            <a:ext cx="457200" cy="457200"/>
          </a:xfrm>
          <a:prstGeom prst="ellipse">
            <a:avLst/>
          </a:prstGeom>
          <a:solidFill>
            <a:srgbClr val="147CE5">
              <a:alpha val="847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62300" y="13582650"/>
            <a:ext cx="457200" cy="457200"/>
          </a:xfrm>
          <a:prstGeom prst="ellipse">
            <a:avLst/>
          </a:prstGeom>
          <a:solidFill>
            <a:srgbClr val="147CE5">
              <a:alpha val="866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86250" y="13582650"/>
            <a:ext cx="457200" cy="457200"/>
          </a:xfrm>
          <a:prstGeom prst="ellipse">
            <a:avLst/>
          </a:prstGeom>
          <a:solidFill>
            <a:srgbClr val="147CE5">
              <a:alpha val="8862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10200" y="13582650"/>
            <a:ext cx="457200" cy="457200"/>
          </a:xfrm>
          <a:prstGeom prst="ellipse">
            <a:avLst/>
          </a:prstGeom>
          <a:solidFill>
            <a:srgbClr val="147CE5">
              <a:alpha val="9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4150" y="13582650"/>
            <a:ext cx="457200" cy="457200"/>
          </a:xfrm>
          <a:prstGeom prst="ellipse">
            <a:avLst/>
          </a:prstGeom>
          <a:solidFill>
            <a:srgbClr val="147CE5">
              <a:alpha val="929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58100" y="13582650"/>
            <a:ext cx="457200" cy="457200"/>
          </a:xfrm>
          <a:prstGeom prst="ellipse">
            <a:avLst/>
          </a:prstGeom>
          <a:solidFill>
            <a:srgbClr val="F5F5F7">
              <a:alpha val="9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 advTm="4219" p14:dur="10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98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86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9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98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98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98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7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98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98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13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98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67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98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98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73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98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2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98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98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533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98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587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98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98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93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98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747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98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98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85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98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98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98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13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98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067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98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0"/>
                        </p:stCondLst>
                      </p:cTn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0"/>
                        </p:stCondLst>
                      </p:cTn>
                      <p:tgtEl>
                        <p:spTgt spid="1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2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3" dur="1" fill="hold">
                        <p:stCondLst>
                          <p:cond delay="0"/>
                        </p:stCondLst>
                      </p:cTn>
                      <p:tgtEl>
                        <p:spTgt spid="1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4" dur="1" fill="hold">
                        <p:stCondLst>
                          <p:cond delay="0"/>
                        </p:stCondLst>
                      </p:cTn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5" dur="1" fill="hold">
                        <p:stCondLst>
                          <p:cond delay="0"/>
                        </p:stCondLst>
                      </p:cTn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6" dur="1" fill="hold">
                        <p:stCondLst>
                          <p:cond delay="0"/>
                        </p:stCondLst>
                      </p:cTn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7" dur="1" fill="hold">
                        <p:stCondLst>
                          <p:cond delay="0"/>
                        </p:stCondLst>
                      </p:cTn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8" dur="1" fill="hold">
                        <p:stCondLst>
                          <p:cond delay="0"/>
                        </p:stCondLst>
                      </p:cTn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9" dur="1" fill="hold">
                        <p:stCondLst>
                          <p:cond delay="0"/>
                        </p:stCondLst>
                      </p:cTn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0" dur="1" fill="hold">
                        <p:stCondLst>
                          <p:cond delay="0"/>
                        </p:stCondLst>
                      </p:cTn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1" dur="1" fill="hold">
                        <p:stCondLst>
                          <p:cond delay="0"/>
                        </p:stCondLst>
                      </p:cTn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2" dur="1" fill="hold">
                        <p:stCondLst>
                          <p:cond delay="0"/>
                        </p:stCondLst>
                      </p:cTn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3" dur="1" fill="hold">
                        <p:stCondLst>
                          <p:cond delay="0"/>
                        </p:stCondLst>
                      </p:cTn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4" dur="1" fill="hold">
                        <p:stCondLst>
                          <p:cond delay="0"/>
                        </p:stCondLst>
                      </p:cTn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5" dur="1" fill="hold">
                        <p:stCondLst>
                          <p:cond delay="0"/>
                        </p:stCondLst>
                      </p:cTn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6" dur="1" fill="hold">
                        <p:stCondLst>
                          <p:cond delay="0"/>
                        </p:stCondLst>
                      </p:cTn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7" dur="1" fill="hold">
                        <p:stCondLst>
                          <p:cond delay="0"/>
                        </p:stCondLst>
                      </p:cTn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28" dur="1" fill="hold">
                        <p:stCondLst>
                          <p:cond delay="0"/>
                        </p:stCondLst>
                      </p:cTn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67000"/>
            <a:ext cx="399097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5EA8FF"/>
                </a:solidFill>
                <a:latin typeface="Pretendard"/>
              </a:rPr>
              <a:t>PROOF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09950"/>
            <a:ext cx="6572250" cy="1704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500"/>
              </a:lnSpc>
            </a:pPr>
            <a:r>
              <a:rPr sz="8100" b="0" i="0">
                <a:solidFill>
                  <a:srgbClr val="F5F5F7"/>
                </a:solidFill>
                <a:latin typeface="Pretendard"/>
              </a:rPr>
              <a:t>GO LONGER.</a:t>
            </a:r>
          </a:p>
          <a:p>
            <a:pPr algn="l">
              <a:lnSpc>
                <a:spcPts val="7500"/>
              </a:lnSpc>
            </a:pPr>
            <a:r>
              <a:rPr sz="8100" b="0" i="0">
                <a:solidFill>
                  <a:srgbClr val="F5F5F7"/>
                </a:solidFill>
                <a:latin typeface="Pretendard"/>
              </a:rPr>
              <a:t>GO FARTHER.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24550"/>
            <a:ext cx="7677150" cy="1085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Progress built with PULSE shows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9A9BA1"/>
                </a:solidFill>
                <a:latin typeface="Pretendard"/>
              </a:rPr>
              <a:t>up in the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153400"/>
            <a:ext cx="24955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6725" y="8153400"/>
            <a:ext cx="4200525" cy="361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3600" b="0" i="0">
                <a:solidFill>
                  <a:srgbClr val="5EA8FF"/>
                </a:solidFill>
                <a:latin typeface="Pretendard"/>
              </a:rPr>
              <a:t>FIRST 5K  ·  +32%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1191875"/>
            <a:ext cx="628650" cy="809625"/>
          </a:xfrm>
          <a:prstGeom prst="rect">
            <a:avLst/>
          </a:prstGeom>
          <a:solidFill>
            <a:srgbClr val="147CE5">
              <a:alpha val="5215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350" y="12192000"/>
            <a:ext cx="6667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W1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5000" y="10934700"/>
            <a:ext cx="628650" cy="1066800"/>
          </a:xfrm>
          <a:prstGeom prst="rect">
            <a:avLst/>
          </a:prstGeom>
          <a:solidFill>
            <a:srgbClr val="147CE5">
              <a:alpha val="564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7375" y="12192000"/>
            <a:ext cx="7239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W2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5600" y="10639425"/>
            <a:ext cx="628650" cy="1362075"/>
          </a:xfrm>
          <a:prstGeom prst="rect">
            <a:avLst/>
          </a:prstGeom>
          <a:solidFill>
            <a:srgbClr val="147CE5">
              <a:alpha val="607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8450" y="12192000"/>
            <a:ext cx="7429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W3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0315575"/>
            <a:ext cx="628650" cy="1685925"/>
          </a:xfrm>
          <a:prstGeom prst="rect">
            <a:avLst/>
          </a:prstGeom>
          <a:solidFill>
            <a:srgbClr val="147CE5">
              <a:alpha val="658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9525" y="12192000"/>
            <a:ext cx="7620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W4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0" y="9963150"/>
            <a:ext cx="628650" cy="2038350"/>
          </a:xfrm>
          <a:prstGeom prst="rect">
            <a:avLst/>
          </a:prstGeom>
          <a:solidFill>
            <a:srgbClr val="147CE5">
              <a:alpha val="7137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9650" y="12192000"/>
            <a:ext cx="7429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W5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67400" y="9572625"/>
            <a:ext cx="628650" cy="2428875"/>
          </a:xfrm>
          <a:prstGeom prst="rect">
            <a:avLst/>
          </a:prstGeom>
          <a:solidFill>
            <a:srgbClr val="147CE5">
              <a:alpha val="772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0725" y="12192000"/>
            <a:ext cx="75247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W6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9182100"/>
            <a:ext cx="628650" cy="2819400"/>
          </a:xfrm>
          <a:prstGeom prst="rect">
            <a:avLst/>
          </a:prstGeom>
          <a:solidFill>
            <a:srgbClr val="147CE5">
              <a:alpha val="831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0375" y="12192000"/>
            <a:ext cx="7239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6E747D"/>
                </a:solidFill>
                <a:latin typeface="Pretendard"/>
              </a:rPr>
              <a:t>W7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48600" y="8763000"/>
            <a:ext cx="628650" cy="32385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1450" y="12192000"/>
            <a:ext cx="7429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600" b="0" i="0">
                <a:solidFill>
                  <a:srgbClr val="F5F5F7"/>
                </a:solidFill>
                <a:latin typeface="Pretendard"/>
              </a:rPr>
              <a:t>W8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12001500"/>
            <a:ext cx="7562850" cy="28575"/>
          </a:xfrm>
          <a:prstGeom prst="rect">
            <a:avLst/>
          </a:prstGeom>
          <a:solidFill>
            <a:srgbClr val="30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13030200"/>
            <a:ext cx="4276725" cy="1066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800"/>
              </a:lnSpc>
            </a:pPr>
            <a:r>
              <a:rPr sz="4800" b="0" i="0">
                <a:solidFill>
                  <a:srgbClr val="F5F5F7"/>
                </a:solidFill>
                <a:latin typeface="Pretendard"/>
              </a:rPr>
              <a:t>EIGHT WEEKS.</a:t>
            </a:r>
          </a:p>
          <a:p>
            <a:pPr algn="l">
              <a:lnSpc>
                <a:spcPts val="4800"/>
              </a:lnSpc>
            </a:pPr>
            <a:r>
              <a:rPr sz="4800" b="0" i="0">
                <a:solidFill>
                  <a:srgbClr val="F5F5F7"/>
                </a:solidFill>
                <a:latin typeface="Pretendard"/>
              </a:rPr>
              <a:t>FIRST 5K.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4573250"/>
            <a:ext cx="73914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9A9BA1"/>
                </a:solidFill>
                <a:latin typeface="Pretendard"/>
              </a:rPr>
              <a:t>ILLUSTRATIVE PROGRAM DATA</a:t>
            </a:r>
          </a:p>
        </p:txBody>
      </p:sp>
    </p:spTree>
  </p:cSld>
  <p:clrMapOvr>
    <a:masterClrMapping/>
  </p:clrMapOvr>
  <p:transition xmlns:p14="http://schemas.microsoft.com/office/powerpoint/2010/main" spd="fast" advClick="1" advTm="3750" p14:dur="469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398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86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9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98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98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86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86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86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86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86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86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86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86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86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98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3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0" dur="1" fill="hold">
                        <p:stCondLst>
                          <p:cond delay="0"/>
                        </p:stCondLst>
                      </p:cTn>
                      <p:tgtEl>
                        <p:spTgt spid="1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1" dur="1" fill="hold">
                        <p:stCondLst>
                          <p:cond delay="0"/>
                        </p:stCondLst>
                      </p:cTn>
                      <p:tgtEl>
                        <p:spTgt spid="1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2" dur="1" fill="hold">
                        <p:stCondLst>
                          <p:cond delay="0"/>
                        </p:stCondLst>
                      </p:cTn>
                      <p:tgtEl>
                        <p:spTgt spid="1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3" dur="1" fill="hold">
                        <p:stCondLst>
                          <p:cond delay="0"/>
                        </p:stCondLst>
                      </p:cTn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4" dur="1" fill="hold">
                        <p:stCondLst>
                          <p:cond delay="0"/>
                        </p:stCondLst>
                      </p:cTn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5" dur="1" fill="hold">
                        <p:stCondLst>
                          <p:cond delay="0"/>
                        </p:stCondLst>
                      </p:cTn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6" dur="1" fill="hold">
                        <p:stCondLst>
                          <p:cond delay="0"/>
                        </p:stCondLst>
                      </p:cTn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7" dur="1" fill="hold">
                        <p:stCondLst>
                          <p:cond delay="0"/>
                        </p:stCondLst>
                      </p:cTn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18" dur="1" fill="hold">
                        <p:stCondLst>
                          <p:cond delay="0"/>
                        </p:stCondLst>
                      </p:cTn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81250"/>
            <a:ext cx="165735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F5F5F7"/>
                </a:solidFill>
                <a:latin typeface="Roboto"/>
              </a:rP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53000"/>
            <a:ext cx="5924550" cy="2457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650"/>
              </a:lnSpc>
            </a:pPr>
            <a:r>
              <a:rPr sz="12000" b="0" i="0">
                <a:solidFill>
                  <a:srgbClr val="080A0E"/>
                </a:solidFill>
                <a:latin typeface="Pretendard"/>
              </a:rPr>
              <a:t>TIME TO</a:t>
            </a:r>
          </a:p>
          <a:p>
            <a:pPr algn="l">
              <a:lnSpc>
                <a:spcPts val="10650"/>
              </a:lnSpc>
            </a:pPr>
            <a:r>
              <a:rPr sz="12000" b="0" i="0">
                <a:solidFill>
                  <a:srgbClr val="080A0E"/>
                </a:solidFill>
                <a:latin typeface="Pretendard"/>
              </a:rPr>
              <a:t>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763000"/>
            <a:ext cx="7124700" cy="1066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F5F5F7"/>
                </a:solidFill>
                <a:latin typeface="Pretendard"/>
              </a:rPr>
              <a:t>The fastest way to understand</a:t>
            </a:r>
          </a:p>
          <a:p>
            <a:pPr algn="l">
              <a:lnSpc>
                <a:spcPts val="4725"/>
              </a:lnSpc>
            </a:pPr>
            <a:r>
              <a:rPr sz="4050" b="0" i="0">
                <a:solidFill>
                  <a:srgbClr val="F5F5F7"/>
                </a:solidFill>
                <a:latin typeface="Pretendard"/>
              </a:rPr>
              <a:t>your 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239500"/>
            <a:ext cx="5876925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6300" b="0" i="0">
                <a:solidFill>
                  <a:srgbClr val="F5F5F7"/>
                </a:solidFill>
                <a:latin typeface="Pretendard"/>
              </a:rPr>
              <a:t>START FREE 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2325350"/>
            <a:ext cx="5334000" cy="47625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049250"/>
            <a:ext cx="7658100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F5F5F7"/>
                </a:solidFill>
                <a:latin typeface="Pretendard"/>
              </a:rPr>
              <a:t>7 DAYS FREE  ·  CANCEL ANYTIME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287500"/>
            <a:ext cx="3086100" cy="381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050" b="0" i="0">
                <a:solidFill>
                  <a:srgbClr val="F5F5F7"/>
                </a:solidFill>
                <a:latin typeface="Pretendard"/>
              </a:rPr>
              <a:t>PULSE.APP</a:t>
            </a:r>
          </a:p>
        </p:txBody>
      </p:sp>
    </p:spTree>
  </p:cSld>
  <p:clrMapOvr>
    <a:masterClrMapping/>
  </p:clrMapOvr>
  <p:transition xmlns:p14="http://schemas.microsoft.com/office/powerpoint/2010/main" spd="fast" advClick="1" advTm="3281" p14:dur="469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86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98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86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398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98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98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" fill="hold">
                <p:stCondLst>
                  <p:cond delay="0"/>
                </p:stCondLst>
                <p:childTnLst>
                  <p:set>
                    <p:cBhvr>
                      <p:cTn id="4" dur="1" fill="hold">
                        <p:stCondLst>
                          <p:cond delay="0"/>
                        </p:stCondLst>
                      </p:cTn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5" dur="1" fill="hold">
                        <p:stCondLst>
                          <p:cond delay="0"/>
                        </p:stCondLst>
                      </p:cTn>
                      <p:tgtEl>
                        <p:spTgt spid="5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6" dur="1" fill="hold">
                        <p:stCondLst>
                          <p:cond delay="0"/>
                        </p:stCondLst>
                      </p:cTn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7" dur="1" fill="hold">
                        <p:stCondLst>
                          <p:cond delay="0"/>
                        </p:stCondLst>
                      </p:cTn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8" dur="1" fill="hold">
                        <p:stCondLst>
                          <p:cond delay="0"/>
                        </p:stCondLst>
                      </p:cTn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  <p:set>
                    <p:cBhvr>
                      <p:cTn id="9" dur="1" fill="hold">
                        <p:stCondLst>
                          <p:cond delay="0"/>
                        </p:stCondLst>
                      </p:cTn>
                      <p:tgtEl>
                        <p:spTgt spid="9"/>
                      </p:tgtEl>
                      <p:attrNameLst>
                        <p:attrName>style.visibility</p:attrName>
                      </p:attrNameLst>
                    </p:cBhvr>
                    <p:to>
                      <p:strVal val="hidden"/>
                    </p:to>
                  </p:set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