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070E"/>
              </a:gs>
              <a:gs pos="100000">
                <a:srgbClr val="11101B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000" cy="190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6096000" cy="1905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43925" y="-1714500"/>
            <a:ext cx="5334000" cy="5334000"/>
          </a:xfrm>
          <a:prstGeom prst="ellipse">
            <a:avLst/>
          </a:prstGeom>
          <a:solidFill>
            <a:srgbClr val="8B5CF6">
              <a:alpha val="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038225" y="4648200"/>
            <a:ext cx="3048000" cy="3048000"/>
          </a:xfrm>
          <a:prstGeom prst="ellipse">
            <a:avLst/>
          </a:prstGeom>
          <a:solidFill>
            <a:srgbClr val="22D3EE">
              <a:alpha val="5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9200" y="581025"/>
            <a:ext cx="542925" cy="123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50" b="1" i="0">
                <a:solidFill>
                  <a:srgbClr val="8B5CF6"/>
                </a:solidFill>
                <a:latin typeface="Roboto"/>
              </a:rPr>
              <a:t>VELA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1200150"/>
            <a:ext cx="4143375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 b="0" i="0">
                <a:solidFill>
                  <a:srgbClr val="64748B"/>
                </a:solidFill>
                <a:latin typeface="Roboto"/>
              </a:rPr>
              <a:t>SERIES A  ·  INVESTOR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1847850"/>
            <a:ext cx="6648450" cy="2886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175"/>
              </a:lnSpc>
            </a:pPr>
            <a:r>
              <a:rPr sz="8100" b="1" i="0">
                <a:gradFill rotWithShape="1">
                  <a:gsLst>
                    <a:gs pos="0">
                      <a:srgbClr val="6B7FF3"/>
                    </a:gs>
                    <a:gs pos="100000">
                      <a:srgbClr val="41AFF0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Make better</a:t>
            </a:r>
          </a:p>
          <a:p>
            <a:pPr algn="l">
              <a:lnSpc>
                <a:spcPts val="8175"/>
              </a:lnSpc>
            </a:pPr>
            <a:r>
              <a:rPr sz="8100" b="1" i="0">
                <a:gradFill rotWithShape="1">
                  <a:gsLst>
                    <a:gs pos="0">
                      <a:srgbClr val="6B7FF3"/>
                    </a:gs>
                    <a:gs pos="100000">
                      <a:srgbClr val="41AFF0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decisions,</a:t>
            </a:r>
          </a:p>
          <a:p>
            <a:pPr algn="l">
              <a:lnSpc>
                <a:spcPts val="8175"/>
              </a:lnSpc>
            </a:pPr>
            <a:r>
              <a:rPr sz="8100" b="1" i="0">
                <a:gradFill rotWithShape="1">
                  <a:gsLst>
                    <a:gs pos="0">
                      <a:srgbClr val="6B7FF3"/>
                    </a:gs>
                    <a:gs pos="100000">
                      <a:srgbClr val="41AFF0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faster.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19200" y="5276850"/>
            <a:ext cx="9144000" cy="9525"/>
          </a:xfrm>
          <a:prstGeom prst="rect">
            <a:avLst/>
          </a:prstGeom>
          <a:solidFill>
            <a:srgbClr val="1E1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5553075"/>
            <a:ext cx="7439025" cy="6381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075"/>
              </a:lnSpc>
            </a:pPr>
            <a:r>
              <a:rPr sz="2025" b="0" i="0">
                <a:solidFill>
                  <a:srgbClr val="C4C4D4"/>
                </a:solidFill>
                <a:latin typeface="Roboto"/>
              </a:rPr>
              <a:t>Vela surfaces the signals that matter in your product data</a:t>
            </a:r>
          </a:p>
          <a:p>
            <a:pPr algn="l">
              <a:lnSpc>
                <a:spcPts val="3075"/>
              </a:lnSpc>
            </a:pPr>
            <a:r>
              <a:rPr sz="2025" b="0" i="0">
                <a:solidFill>
                  <a:srgbClr val="C4C4D4"/>
                </a:solidFill>
                <a:latin typeface="Roboto"/>
              </a:rPr>
              <a:t>so your team stops guessing and starts shipping with confidence.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5075" y="6372225"/>
            <a:ext cx="847725" cy="123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1275" b="0" i="0">
                <a:solidFill>
                  <a:srgbClr val="64748B"/>
                </a:solidFill>
                <a:latin typeface="Roboto"/>
              </a:rPr>
              <a:t>Confidential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070E"/>
              </a:gs>
              <a:gs pos="100000">
                <a:srgbClr val="11101B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000" cy="190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6096000" cy="1905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581025"/>
            <a:ext cx="542925" cy="123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50" b="1" i="0">
                <a:solidFill>
                  <a:srgbClr val="8B5CF6"/>
                </a:solidFill>
                <a:latin typeface="Roboto"/>
              </a:rPr>
              <a:t>VELA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581025"/>
            <a:ext cx="1504950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 b="0" i="0">
                <a:solidFill>
                  <a:srgbClr val="64748B"/>
                </a:solidFill>
                <a:latin typeface="Roboto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8125" y="962025"/>
            <a:ext cx="4095750" cy="1485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0" b="1" i="0">
                <a:gradFill rotWithShape="1">
                  <a:gsLst>
                    <a:gs pos="0">
                      <a:srgbClr val="6883F3"/>
                    </a:gs>
                    <a:gs pos="100000">
                      <a:srgbClr val="44ABF0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73%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8450" y="4876800"/>
            <a:ext cx="6505575" cy="276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250" b="0" i="0">
                <a:solidFill>
                  <a:srgbClr val="C4C4D4"/>
                </a:solidFill>
                <a:latin typeface="Roboto"/>
              </a:rPr>
              <a:t>of product decisions are made without reliable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5581650"/>
            <a:ext cx="7620000" cy="9525"/>
          </a:xfrm>
          <a:prstGeom prst="rect">
            <a:avLst/>
          </a:prstGeom>
          <a:solidFill>
            <a:srgbClr val="1E1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1350" y="5981700"/>
            <a:ext cx="1819275" cy="171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0" i="0">
                <a:solidFill>
                  <a:srgbClr val="64748B"/>
                </a:solidFill>
                <a:latin typeface="Roboto"/>
              </a:rPr>
              <a:t>Siloed dashboards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5425" y="6019800"/>
            <a:ext cx="57150" cy="952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0" i="0">
                <a:solidFill>
                  <a:srgbClr val="1E1D2F"/>
                </a:solidFill>
                <a:latin typeface="Robot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7375" y="5962650"/>
            <a:ext cx="1200150" cy="219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0" i="0">
                <a:solidFill>
                  <a:srgbClr val="64748B"/>
                </a:solidFill>
                <a:latin typeface="Roboto"/>
              </a:rPr>
              <a:t>Alert fatigue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2325" y="6019800"/>
            <a:ext cx="57150" cy="952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0" i="0">
                <a:solidFill>
                  <a:srgbClr val="1E1D2F"/>
                </a:solidFill>
                <a:latin typeface="Roboto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34275" y="5981700"/>
            <a:ext cx="1485900" cy="171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0" i="0">
                <a:solidFill>
                  <a:srgbClr val="64748B"/>
                </a:solidFill>
                <a:latin typeface="Roboto"/>
              </a:rPr>
              <a:t>No clear owner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070E"/>
              </a:gs>
              <a:gs pos="100000">
                <a:srgbClr val="11101B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000" cy="190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6096000" cy="1905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581025"/>
            <a:ext cx="542925" cy="123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50" b="1" i="0">
                <a:solidFill>
                  <a:srgbClr val="8B5CF6"/>
                </a:solidFill>
                <a:latin typeface="Roboto"/>
              </a:rPr>
              <a:t>VELA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581025"/>
            <a:ext cx="1476375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 b="0" i="0">
                <a:solidFill>
                  <a:srgbClr val="64748B"/>
                </a:solidFill>
                <a:latin typeface="Roboto"/>
              </a:rPr>
              <a:t>THE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6875" y="1133475"/>
            <a:ext cx="8858250" cy="619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4800" b="1" i="0">
                <a:gradFill rotWithShape="1">
                  <a:gsLst>
                    <a:gs pos="0">
                      <a:srgbClr val="41AFF0"/>
                    </a:gs>
                    <a:gs pos="100000">
                      <a:srgbClr val="6B7FF3"/>
                    </a:gs>
                  </a:gsLst>
                  <a:lin ang="66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One platform. Every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0" y="2400300"/>
            <a:ext cx="9906000" cy="9525"/>
          </a:xfrm>
          <a:prstGeom prst="rect">
            <a:avLst/>
          </a:prstGeom>
          <a:solidFill>
            <a:srgbClr val="1E1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43250" y="2743200"/>
            <a:ext cx="533400" cy="533400"/>
          </a:xfrm>
          <a:prstGeom prst="ellipse">
            <a:avLst/>
          </a:prstGeom>
          <a:solidFill>
            <a:srgbClr val="8B5CF6">
              <a:alpha val="1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5650" y="289560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glow rad="171450">
              <a:srgbClr val="8B5CF6">
                <a:alpha val="29803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8900" y="3248025"/>
            <a:ext cx="1571625" cy="657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3000"/>
              </a:lnSpc>
            </a:pPr>
            <a:r>
              <a:rPr sz="2850" b="1" i="0">
                <a:gradFill rotWithShape="1">
                  <a:gsLst>
                    <a:gs pos="0">
                      <a:srgbClr val="A886F8"/>
                    </a:gs>
                    <a:gs pos="100000">
                      <a:srgbClr val="EDE9FE"/>
                    </a:gs>
                  </a:gsLst>
                  <a:lin ang="6000000" scaled="0"/>
                </a:gradFill>
                <a:latin typeface="Roboto"/>
              </a:rPr>
              <a:t>Signal</a:t>
            </a:r>
          </a:p>
          <a:p>
            <a:pPr algn="ctr">
              <a:lnSpc>
                <a:spcPts val="3000"/>
              </a:lnSpc>
            </a:pPr>
            <a:r>
              <a:rPr sz="2850" b="1" i="0">
                <a:gradFill rotWithShape="1">
                  <a:gsLst>
                    <a:gs pos="0">
                      <a:srgbClr val="A886F8"/>
                    </a:gs>
                    <a:gs pos="100000">
                      <a:srgbClr val="EDE9FE"/>
                    </a:gs>
                  </a:gsLst>
                  <a:lin ang="6000000" scaled="0"/>
                </a:gradFill>
                <a:latin typeface="Roboto"/>
              </a:rP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925" y="4333875"/>
            <a:ext cx="2695575" cy="828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Automatically surfaces</a:t>
            </a:r>
          </a:p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anomalies and trends</a:t>
            </a:r>
          </a:p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before they become incidents.</a:t>
            </a:r>
          </a:p>
        </p:txBody>
      </p:sp>
      <p:sp>
        <p:nvSpPr>
          <p:cNvPr id="13" name="Oval 12"/>
          <p:cNvSpPr/>
          <p:nvPr/>
        </p:nvSpPr>
        <p:spPr>
          <a:xfrm>
            <a:off x="5829300" y="2743200"/>
            <a:ext cx="533400" cy="533400"/>
          </a:xfrm>
          <a:prstGeom prst="ellipse">
            <a:avLst/>
          </a:prstGeom>
          <a:solidFill>
            <a:srgbClr val="22D3EE">
              <a:alpha val="1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81700" y="2895600"/>
            <a:ext cx="228600" cy="2286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171450">
              <a:srgbClr val="22D3EE">
                <a:alpha val="29803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0700" y="3248025"/>
            <a:ext cx="990600" cy="657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3000"/>
              </a:lnSpc>
            </a:pPr>
            <a:r>
              <a:rPr sz="2850" b="1" i="0">
                <a:gradFill rotWithShape="1">
                  <a:gsLst>
                    <a:gs pos="0">
                      <a:srgbClr val="49D9F1"/>
                    </a:gs>
                    <a:gs pos="100000">
                      <a:srgbClr val="F6F7FE"/>
                    </a:gs>
                  </a:gsLst>
                  <a:lin ang="6000000" scaled="0"/>
                </a:gradFill>
                <a:latin typeface="Roboto"/>
              </a:rPr>
              <a:t>Smart</a:t>
            </a:r>
          </a:p>
          <a:p>
            <a:pPr algn="ctr">
              <a:lnSpc>
                <a:spcPts val="3000"/>
              </a:lnSpc>
            </a:pPr>
            <a:r>
              <a:rPr sz="2850" b="1" i="0">
                <a:gradFill rotWithShape="1">
                  <a:gsLst>
                    <a:gs pos="0">
                      <a:srgbClr val="49D9F1"/>
                    </a:gs>
                    <a:gs pos="100000">
                      <a:srgbClr val="F6F7FE"/>
                    </a:gs>
                  </a:gsLst>
                  <a:lin ang="6000000" scaled="0"/>
                </a:gradFill>
                <a:latin typeface="Roboto"/>
              </a:rPr>
              <a:t>Alerts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8225" y="4333875"/>
            <a:ext cx="2495550" cy="828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Context-aware notifications</a:t>
            </a:r>
          </a:p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that cut through noise and</a:t>
            </a:r>
          </a:p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reach the right person.</a:t>
            </a:r>
          </a:p>
        </p:txBody>
      </p:sp>
      <p:sp>
        <p:nvSpPr>
          <p:cNvPr id="17" name="Oval 16"/>
          <p:cNvSpPr/>
          <p:nvPr/>
        </p:nvSpPr>
        <p:spPr>
          <a:xfrm>
            <a:off x="8505825" y="2743200"/>
            <a:ext cx="533400" cy="533400"/>
          </a:xfrm>
          <a:prstGeom prst="ellipse">
            <a:avLst/>
          </a:prstGeom>
          <a:solidFill>
            <a:srgbClr val="10B981">
              <a:alpha val="1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58225" y="289560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glow rad="171450">
              <a:srgbClr val="10B981">
                <a:alpha val="29803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3248025"/>
            <a:ext cx="933450" cy="714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3000"/>
              </a:lnSpc>
            </a:pPr>
            <a:r>
              <a:rPr sz="2850" b="1" i="0">
                <a:gradFill rotWithShape="1">
                  <a:gsLst>
                    <a:gs pos="0">
                      <a:srgbClr val="34C294"/>
                    </a:gs>
                    <a:gs pos="97756">
                      <a:srgbClr val="F8F8FF"/>
                    </a:gs>
                    <a:gs pos="100000">
                      <a:srgbClr val="F8F8FF"/>
                    </a:gs>
                  </a:gsLst>
                  <a:lin ang="6000000" scaled="0"/>
                </a:gradFill>
                <a:latin typeface="Roboto"/>
              </a:rPr>
              <a:t>Team</a:t>
            </a:r>
          </a:p>
          <a:p>
            <a:pPr algn="ctr">
              <a:lnSpc>
                <a:spcPts val="3000"/>
              </a:lnSpc>
            </a:pPr>
            <a:r>
              <a:rPr sz="2850" b="1" i="0">
                <a:gradFill rotWithShape="1">
                  <a:gsLst>
                    <a:gs pos="0">
                      <a:srgbClr val="34C294"/>
                    </a:gs>
                    <a:gs pos="97756">
                      <a:srgbClr val="F8F8FF"/>
                    </a:gs>
                    <a:gs pos="100000">
                      <a:srgbClr val="F8F8FF"/>
                    </a:gs>
                  </a:gsLst>
                  <a:lin ang="6000000" scaled="0"/>
                </a:gradFill>
                <a:latin typeface="Roboto"/>
              </a:rPr>
              <a:t>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3825" y="4333875"/>
            <a:ext cx="2066925" cy="828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One-click shared views</a:t>
            </a:r>
          </a:p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that turn findings into</a:t>
            </a:r>
          </a:p>
          <a:p>
            <a:pPr algn="ctr">
              <a:lnSpc>
                <a:spcPts val="2475"/>
              </a:lnSpc>
            </a:pPr>
            <a:r>
              <a:rPr sz="1650" b="0" i="0">
                <a:solidFill>
                  <a:srgbClr val="C4C4D4"/>
                </a:solidFill>
                <a:latin typeface="Roboto"/>
              </a:rPr>
              <a:t>aligned decisions fast.</a:t>
            </a:r>
          </a:p>
        </p:txBody>
      </p:sp>
    </p:spTree>
  </p:cSld>
  <p:clrMapOvr>
    <a:masterClrMapping/>
  </p:clrMapOvr>
  <p:transition xmlns:p14="http://schemas.microsoft.com/office/powerpoint/2010/main" spd="fast" advClick="1" p14:dur="5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070E"/>
              </a:gs>
              <a:gs pos="100000">
                <a:srgbClr val="11101B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000" cy="190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6096000" cy="1905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581025"/>
            <a:ext cx="542925" cy="123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50" b="1" i="0">
                <a:solidFill>
                  <a:srgbClr val="8B5CF6"/>
                </a:solidFill>
                <a:latin typeface="Roboto"/>
              </a:rPr>
              <a:t>VELA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581025"/>
            <a:ext cx="1066800" cy="133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425" b="0" i="0">
                <a:solidFill>
                  <a:srgbClr val="64748B"/>
                </a:solidFill>
                <a:latin typeface="Roboto"/>
              </a:rPr>
              <a:t>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9400" y="1123950"/>
            <a:ext cx="6562725" cy="1266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5700"/>
              </a:lnSpc>
            </a:pPr>
            <a:r>
              <a:rPr sz="5400" b="1" i="0">
                <a:gradFill rotWithShape="1">
                  <a:gsLst>
                    <a:gs pos="0">
                      <a:srgbClr val="608CF2"/>
                    </a:gs>
                    <a:gs pos="100000">
                      <a:srgbClr val="4CA2F1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Growing fast.</a:t>
            </a:r>
          </a:p>
          <a:p>
            <a:pPr algn="ctr">
              <a:lnSpc>
                <a:spcPts val="5700"/>
              </a:lnSpc>
            </a:pPr>
            <a:r>
              <a:rPr sz="5400" b="1" i="0">
                <a:gradFill rotWithShape="1">
                  <a:gsLst>
                    <a:gs pos="0">
                      <a:srgbClr val="608CF2"/>
                    </a:gs>
                    <a:gs pos="100000">
                      <a:srgbClr val="4CA2F1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Customers love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3133725"/>
            <a:ext cx="2762250" cy="781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6900" b="1" i="0">
                <a:gradFill rotWithShape="1">
                  <a:gsLst>
                    <a:gs pos="0">
                      <a:srgbClr val="B99EF9"/>
                    </a:gs>
                    <a:gs pos="100000">
                      <a:srgbClr val="DCD0FC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2,400+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4575" y="4848225"/>
            <a:ext cx="1476375" cy="171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875" b="0" i="0">
                <a:solidFill>
                  <a:srgbClr val="64748B"/>
                </a:solidFill>
                <a:latin typeface="Roboto"/>
              </a:rPr>
              <a:t>Active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0650" y="3133725"/>
            <a:ext cx="1790700" cy="6477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6900" b="1" i="0">
                <a:gradFill rotWithShape="1">
                  <a:gsLst>
                    <a:gs pos="0">
                      <a:srgbClr val="75E1F4"/>
                    </a:gs>
                    <a:gs pos="100000">
                      <a:srgbClr val="CAF0FB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95900" y="4848225"/>
            <a:ext cx="1600200" cy="171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875" b="0" i="0">
                <a:solidFill>
                  <a:srgbClr val="64748B"/>
                </a:solidFill>
                <a:latin typeface="Roboto"/>
              </a:rPr>
              <a:t>Retention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9550" y="3105150"/>
            <a:ext cx="2619375" cy="742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6900" b="1" i="0">
                <a:gradFill rotWithShape="1">
                  <a:gsLst>
                    <a:gs pos="0">
                      <a:srgbClr val="73D3B6"/>
                    </a:gs>
                    <a:gs pos="100000">
                      <a:srgbClr val="BDE8DF"/>
                    </a:gs>
                  </a:gsLst>
                  <a:lin ang="5400000" scaled="0"/>
                </a:gra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$1.8M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4848225"/>
            <a:ext cx="457200" cy="171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875" b="0" i="0">
                <a:solidFill>
                  <a:srgbClr val="64748B"/>
                </a:solidFill>
                <a:latin typeface="Roboto"/>
              </a:rPr>
              <a:t>ARR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0" y="5753100"/>
            <a:ext cx="9144000" cy="9525"/>
          </a:xfrm>
          <a:prstGeom prst="rect">
            <a:avLst/>
          </a:prstGeom>
          <a:solidFill>
            <a:srgbClr val="1E1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52700" y="6010275"/>
            <a:ext cx="7077075" cy="200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650" b="0" i="1">
                <a:solidFill>
                  <a:srgbClr val="64748B"/>
                </a:solidFill>
                <a:latin typeface="Roboto"/>
              </a:rPr>
              <a:t>"Vela cut our incident response time in half." — Head of Product, Series B fintech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8A5BF5"/>
              </a:gs>
              <a:gs pos="100000">
                <a:srgbClr val="4338CA"/>
              </a:gs>
            </a:gsLst>
            <a:lin ang="8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000" cy="190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0" y="0"/>
            <a:ext cx="6096000" cy="1905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77150" y="-1819275"/>
            <a:ext cx="6096000" cy="6096000"/>
          </a:xfrm>
          <a:prstGeom prst="ellipse">
            <a:avLst/>
          </a:prstGeom>
          <a:solidFill>
            <a:srgbClr val="F8F8FF">
              <a:alpha val="392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838200" y="3810000"/>
            <a:ext cx="3619500" cy="3619500"/>
          </a:xfrm>
          <a:prstGeom prst="ellipse">
            <a:avLst/>
          </a:prstGeom>
          <a:solidFill>
            <a:srgbClr val="F8F8FF">
              <a:alpha val="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9200" y="581025"/>
            <a:ext cx="542925" cy="123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50" b="1" i="0">
                <a:solidFill>
                  <a:srgbClr val="8B5CF6"/>
                </a:solidFill>
                <a:latin typeface="Roboto"/>
              </a:rPr>
              <a:t>VELA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575" y="876300"/>
            <a:ext cx="9086850" cy="2085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8175"/>
              </a:lnSpc>
            </a:pPr>
            <a:r>
              <a:rPr sz="8100" b="1" i="0">
                <a:solidFill>
                  <a:srgbClr val="F8F8FF"/>
                </a:soli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Ready to surface</a:t>
            </a:r>
          </a:p>
          <a:p>
            <a:pPr algn="ctr">
              <a:lnSpc>
                <a:spcPts val="8175"/>
              </a:lnSpc>
            </a:pPr>
            <a:r>
              <a:rPr sz="8100" b="1" i="0">
                <a:solidFill>
                  <a:srgbClr val="F8F8FF"/>
                </a:solidFill>
                <a:effectLst>
                  <a:outerShdw blurRad="342900" dist="57150" dir="5400000" rotWithShape="0">
                    <a:srgbClr val="000000">
                      <a:alpha val="46666"/>
                    </a:srgbClr>
                  </a:outerShdw>
                </a:effectLst>
                <a:latin typeface="Noto Serif"/>
              </a:rPr>
              <a:t>the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2350" y="4829175"/>
            <a:ext cx="5076825" cy="219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100" b="0" i="0">
                <a:solidFill>
                  <a:srgbClr val="DDD6FE"/>
                </a:solidFill>
                <a:latin typeface="Roboto"/>
              </a:rPr>
              <a:t>Book a 20-minute demo  ·  vela.so/demo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9725" y="5657850"/>
            <a:ext cx="1352550" cy="200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575" b="0" i="0">
                <a:solidFill>
                  <a:srgbClr val="A78BFA"/>
                </a:solidFill>
                <a:latin typeface="Roboto"/>
              </a:rPr>
              <a:t>hello@vela.so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cover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