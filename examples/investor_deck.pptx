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6900" y="552450"/>
            <a:ext cx="8382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01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4500"/>
            <a:ext cx="6562725" cy="1981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850"/>
              </a:lnSpc>
            </a:pPr>
            <a:r>
              <a:rPr sz="5850" b="0" i="0">
                <a:solidFill>
                  <a:srgbClr val="1D1D1F"/>
                </a:solidFill>
                <a:latin typeface="Roboto"/>
              </a:rPr>
              <a:t>Know what changed.</a:t>
            </a:r>
          </a:p>
          <a:p>
            <a:pPr algn="l">
              <a:lnSpc>
                <a:spcPts val="5850"/>
              </a:lnSpc>
            </a:pPr>
            <a:r>
              <a:rPr sz="5850" b="0" i="0">
                <a:solidFill>
                  <a:srgbClr val="1D1D1F"/>
                </a:solidFill>
                <a:latin typeface="Roboto"/>
              </a:rPr>
              <a:t>Decide what to do</a:t>
            </a:r>
          </a:p>
          <a:p>
            <a:pPr algn="l">
              <a:lnSpc>
                <a:spcPts val="5850"/>
              </a:lnSpc>
            </a:pPr>
            <a:r>
              <a:rPr sz="5850" b="0" i="0">
                <a:solidFill>
                  <a:srgbClr val="1D1D1F"/>
                </a:solidFill>
                <a:latin typeface="Roboto"/>
              </a:rPr>
              <a:t>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095750"/>
            <a:ext cx="5572125" cy="600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75"/>
              </a:lnSpc>
            </a:pPr>
            <a:r>
              <a:rPr sz="2025" b="0" i="0">
                <a:solidFill>
                  <a:srgbClr val="6E6E73"/>
                </a:solidFill>
                <a:latin typeface="Roboto"/>
              </a:rPr>
              <a:t>Vela turns product data into an explained, owned</a:t>
            </a:r>
          </a:p>
          <a:p>
            <a:pPr algn="l">
              <a:lnSpc>
                <a:spcPts val="2775"/>
              </a:lnSpc>
            </a:pPr>
            <a:r>
              <a:rPr sz="2025" b="0" i="0">
                <a:solidFill>
                  <a:srgbClr val="6E6E73"/>
                </a:solidFill>
                <a:latin typeface="Roboto"/>
              </a:rPr>
              <a:t>decision — before the moment passes.</a:t>
            </a:r>
          </a:p>
        </p:txBody>
      </p:sp>
      <p:sp>
        <p:nvSpPr>
          <p:cNvPr id="9" name="Oval 8"/>
          <p:cNvSpPr/>
          <p:nvPr/>
        </p:nvSpPr>
        <p:spPr>
          <a:xfrm>
            <a:off x="7648575" y="1143000"/>
            <a:ext cx="4476750" cy="447675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9250" y="2381250"/>
            <a:ext cx="17145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9250" y="3048000"/>
            <a:ext cx="1104900" cy="47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9250" y="3714750"/>
            <a:ext cx="2133600" cy="47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9250" y="4381500"/>
            <a:ext cx="1409700" cy="47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5953125"/>
            <a:ext cx="331470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Roboto"/>
              </a:rPr>
              <a:t>Decision intelligence for product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75" y="5953125"/>
            <a:ext cx="42767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CONFIDENTIAL  ·  ILLUSTRATIVE COMPANY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8775" y="552450"/>
            <a:ext cx="13239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4962525" cy="942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Teams find the signal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after the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7500"/>
            <a:ext cx="3362325" cy="1304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0" b="0" i="0">
                <a:solidFill>
                  <a:srgbClr val="0066CC"/>
                </a:solidFill>
                <a:latin typeface="Roboto"/>
              </a:rPr>
              <a:t>11.4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4905375"/>
            <a:ext cx="18002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Roboto"/>
              </a:rPr>
              <a:t>HOURS /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6750" y="3190875"/>
            <a:ext cx="6096000" cy="600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75"/>
              </a:lnSpc>
            </a:pPr>
            <a:r>
              <a:rPr sz="2025" b="0" i="0">
                <a:solidFill>
                  <a:srgbClr val="6E6E73"/>
                </a:solidFill>
                <a:latin typeface="Roboto"/>
              </a:rPr>
              <a:t>spent reconciling dashboards, alerts, and stakeholder</a:t>
            </a:r>
          </a:p>
          <a:p>
            <a:pPr algn="l">
              <a:lnSpc>
                <a:spcPts val="2775"/>
              </a:lnSpc>
            </a:pPr>
            <a:r>
              <a:rPr sz="2025" b="0" i="0">
                <a:solidFill>
                  <a:srgbClr val="6E6E73"/>
                </a:solidFill>
                <a:latin typeface="Roboto"/>
              </a:rPr>
              <a:t>context before a product decision can be made.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43650"/>
            <a:ext cx="471487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customer discovery · n=42 product teams · Q2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4375" y="4953000"/>
            <a:ext cx="1666875" cy="476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375" y="5238750"/>
            <a:ext cx="12287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9875" y="4953000"/>
            <a:ext cx="1666875" cy="4762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9875" y="5238750"/>
            <a:ext cx="6858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5375" y="4953000"/>
            <a:ext cx="1666875" cy="476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5375" y="5238750"/>
            <a:ext cx="7429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TICKETS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552450"/>
            <a:ext cx="923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6172200" cy="1028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The cost of finding context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is collapsing.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3143250" cy="381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4750"/>
            <a:ext cx="20955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0066CC"/>
                </a:solidFill>
                <a:latin typeface="Robo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43375"/>
            <a:ext cx="192405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 b="1" i="0">
                <a:solidFill>
                  <a:srgbClr val="1D1D1F"/>
                </a:solidFill>
                <a:latin typeface="Roboto"/>
              </a:rPr>
              <a:t>MORE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62500"/>
            <a:ext cx="2571750" cy="685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Product teams now operate</a:t>
            </a:r>
          </a:p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across dozens of live data</a:t>
            </a:r>
          </a:p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9150" y="3429000"/>
            <a:ext cx="314325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9150" y="3714750"/>
            <a:ext cx="20955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0066CC"/>
                </a:solidFill>
                <a:latin typeface="Robot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4143375"/>
            <a:ext cx="1800225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 b="1" i="0">
                <a:solidFill>
                  <a:srgbClr val="1D1D1F"/>
                </a:solidFill>
                <a:latin typeface="Roboto"/>
              </a:rPr>
              <a:t>LOWER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4762500"/>
            <a:ext cx="3000375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Models can explain anomalies in</a:t>
            </a:r>
          </a:p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seconds, not analyst-days.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43900" y="3429000"/>
            <a:ext cx="3143250" cy="381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3900" y="3714750"/>
            <a:ext cx="20955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0066CC"/>
                </a:solidFill>
                <a:latin typeface="Robot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143375"/>
            <a:ext cx="2466975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 b="1" i="0">
                <a:solidFill>
                  <a:srgbClr val="1D1D1F"/>
                </a:solidFill>
                <a:latin typeface="Roboto"/>
              </a:rPr>
              <a:t>HIGHER URGENCY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4762500"/>
            <a:ext cx="2962275" cy="4476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Shorter shipping cycles leave no</a:t>
            </a:r>
          </a:p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room for manual reconciliation.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43650"/>
            <a:ext cx="586740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Category drivers shown for illustration; replace with sourced market evidence.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3525" y="552450"/>
            <a:ext cx="15144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7781925" cy="504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00" b="0" i="0">
                <a:solidFill>
                  <a:srgbClr val="1D1D1F"/>
                </a:solidFill>
                <a:latin typeface="Roboto"/>
              </a:rPr>
              <a:t>From anomaly to owned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875" y="3810000"/>
            <a:ext cx="9334500" cy="2857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3500" y="3733800"/>
            <a:ext cx="190500" cy="1905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8225" y="4238625"/>
            <a:ext cx="78105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066CC"/>
                </a:solidFill>
                <a:latin typeface="Roboto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10125"/>
            <a:ext cx="2143125" cy="2000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400"/>
              </a:lnSpc>
            </a:pPr>
            <a:r>
              <a:rPr sz="2025" b="0" i="0">
                <a:solidFill>
                  <a:srgbClr val="1D1D1F"/>
                </a:solidFill>
                <a:latin typeface="Roboto"/>
              </a:rPr>
              <a:t>Conversion -18.4%</a:t>
            </a:r>
          </a:p>
        </p:txBody>
      </p:sp>
      <p:sp>
        <p:nvSpPr>
          <p:cNvPr id="12" name="Oval 11"/>
          <p:cNvSpPr/>
          <p:nvPr/>
        </p:nvSpPr>
        <p:spPr>
          <a:xfrm>
            <a:off x="4191000" y="3733800"/>
            <a:ext cx="190500" cy="1905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8575" y="4238625"/>
            <a:ext cx="89535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066CC"/>
                </a:solidFill>
                <a:latin typeface="Roboto"/>
              </a:rP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5175" y="4810125"/>
            <a:ext cx="19716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400"/>
              </a:lnSpc>
            </a:pPr>
            <a:r>
              <a:rPr sz="2025" b="0" i="0">
                <a:solidFill>
                  <a:srgbClr val="1D1D1F"/>
                </a:solidFill>
                <a:latin typeface="Roboto"/>
              </a:rPr>
              <a:t>Payment timeout</a:t>
            </a:r>
          </a:p>
        </p:txBody>
      </p:sp>
      <p:sp>
        <p:nvSpPr>
          <p:cNvPr id="15" name="Oval 14"/>
          <p:cNvSpPr/>
          <p:nvPr/>
        </p:nvSpPr>
        <p:spPr>
          <a:xfrm>
            <a:off x="7048500" y="3733800"/>
            <a:ext cx="190500" cy="1905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0375" y="4238625"/>
            <a:ext cx="67627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066CC"/>
                </a:solidFill>
                <a:latin typeface="Roboto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4810125"/>
            <a:ext cx="1962150" cy="2000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400"/>
              </a:lnSpc>
            </a:pPr>
            <a:r>
              <a:rPr sz="2025" b="0" i="0">
                <a:solidFill>
                  <a:srgbClr val="1D1D1F"/>
                </a:solidFill>
                <a:latin typeface="Roboto"/>
              </a:rPr>
              <a:t>Owner: Checkout</a:t>
            </a:r>
          </a:p>
        </p:txBody>
      </p:sp>
      <p:sp>
        <p:nvSpPr>
          <p:cNvPr id="18" name="Oval 17"/>
          <p:cNvSpPr/>
          <p:nvPr/>
        </p:nvSpPr>
        <p:spPr>
          <a:xfrm>
            <a:off x="9906000" y="3733800"/>
            <a:ext cx="190500" cy="190500"/>
          </a:xfrm>
          <a:prstGeom prst="ellipse">
            <a:avLst/>
          </a:prstGeom>
          <a:solidFill>
            <a:srgbClr val="19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9300" y="4238625"/>
            <a:ext cx="7334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0066CC"/>
                </a:solidFill>
                <a:latin typeface="Roboto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3025" y="4810125"/>
            <a:ext cx="2076450" cy="2000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400"/>
              </a:lnSpc>
            </a:pPr>
            <a:r>
              <a:rPr sz="2025" b="0" i="0">
                <a:solidFill>
                  <a:srgbClr val="1D1D1F"/>
                </a:solidFill>
                <a:latin typeface="Roboto"/>
              </a:rPr>
              <a:t>Rollback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43650"/>
            <a:ext cx="216217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incident workflow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14950" y="552450"/>
            <a:ext cx="15716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9A9BA1"/>
                </a:solidFill>
                <a:latin typeface="Roboto"/>
              </a:rPr>
              <a:t>PRODUCT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9A9BA1"/>
                </a:solidFill>
                <a:latin typeface="Roboto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34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143000"/>
            <a:ext cx="5105400" cy="990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75"/>
              </a:lnSpc>
            </a:pPr>
            <a:r>
              <a:rPr sz="3975" b="0" i="0">
                <a:solidFill>
                  <a:srgbClr val="FFFFFF"/>
                </a:solidFill>
                <a:latin typeface="Roboto"/>
              </a:rPr>
              <a:t>One screen explains</a:t>
            </a:r>
          </a:p>
          <a:p>
            <a:pPr algn="l">
              <a:lnSpc>
                <a:spcPts val="3975"/>
              </a:lnSpc>
            </a:pPr>
            <a:r>
              <a:rPr sz="3975" b="0" i="0">
                <a:solidFill>
                  <a:srgbClr val="FFFFFF"/>
                </a:solidFill>
                <a:latin typeface="Roboto"/>
              </a:rPr>
              <a:t>what changed and why.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714625"/>
            <a:ext cx="10668000" cy="3381375"/>
          </a:xfrm>
          <a:prstGeom prst="roundRect">
            <a:avLst>
              <a:gd name="adj" fmla="val 5070"/>
            </a:avLst>
          </a:prstGeom>
          <a:solidFill>
            <a:srgbClr val="181A1F"/>
          </a:solidFill>
          <a:ln w="9525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95625"/>
            <a:ext cx="23431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9A9BA1"/>
                </a:solidFill>
                <a:latin typeface="Roboto"/>
              </a:rPr>
              <a:t>CHECKOUT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4250"/>
            <a:ext cx="2333625" cy="542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850" b="0" i="0">
                <a:solidFill>
                  <a:srgbClr val="FFFFFF"/>
                </a:solidFill>
                <a:latin typeface="Roboto"/>
              </a:rPr>
              <a:t>−18.4%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0625" y="4810125"/>
            <a:ext cx="323850" cy="762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9750" y="4695825"/>
            <a:ext cx="323850" cy="8763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4752975"/>
            <a:ext cx="323850" cy="819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4638675"/>
            <a:ext cx="323850" cy="9334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7125" y="4714875"/>
            <a:ext cx="323850" cy="8572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6250" y="5038725"/>
            <a:ext cx="323850" cy="533400"/>
          </a:xfrm>
          <a:prstGeom prst="rect">
            <a:avLst/>
          </a:prstGeom>
          <a:solidFill>
            <a:srgbClr val="5B5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5375" y="5162550"/>
            <a:ext cx="323850" cy="409575"/>
          </a:xfrm>
          <a:prstGeom prst="rect">
            <a:avLst/>
          </a:prstGeom>
          <a:solidFill>
            <a:srgbClr val="5B5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4500" y="5200650"/>
            <a:ext cx="323850" cy="371475"/>
          </a:xfrm>
          <a:prstGeom prst="rect">
            <a:avLst/>
          </a:prstGeom>
          <a:solidFill>
            <a:srgbClr val="5B5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8500" y="3095625"/>
            <a:ext cx="9525" cy="2571750"/>
          </a:xfrm>
          <a:prstGeom prst="rect">
            <a:avLst/>
          </a:prstGeom>
          <a:solidFill>
            <a:srgbClr val="3B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7125" y="3095625"/>
            <a:ext cx="13620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E8F2FF"/>
                </a:solidFill>
                <a:latin typeface="Roboto"/>
              </a:rPr>
              <a:t>LIKELY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7125" y="3667125"/>
            <a:ext cx="3429000" cy="6191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00"/>
              </a:lnSpc>
            </a:pPr>
            <a:r>
              <a:rPr sz="2325" b="0" i="0">
                <a:solidFill>
                  <a:srgbClr val="FFFFFF"/>
                </a:solidFill>
                <a:latin typeface="Roboto"/>
              </a:rPr>
              <a:t>Payment provider timeout</a:t>
            </a:r>
          </a:p>
          <a:p>
            <a:pPr algn="l">
              <a:lnSpc>
                <a:spcPts val="2700"/>
              </a:lnSpc>
            </a:pPr>
            <a:r>
              <a:rPr sz="2325" b="0" i="0">
                <a:solidFill>
                  <a:srgbClr val="FFFFFF"/>
                </a:solidFill>
                <a:latin typeface="Roboto"/>
              </a:rPr>
              <a:t>after deploy #4821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7125" y="4714875"/>
            <a:ext cx="2324100" cy="762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B8B8BE"/>
                </a:solidFill>
                <a:latin typeface="Roboto"/>
              </a:rPr>
              <a:t>OWNER   Checkout team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B8B8BE"/>
                </a:solidFill>
                <a:latin typeface="Roboto"/>
              </a:rPr>
              <a:t>ACTION  Roll back deploy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B8B8BE"/>
                </a:solidFill>
                <a:latin typeface="Roboto"/>
              </a:rPr>
              <a:t>STATUS  Decision recorded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750" y="552450"/>
            <a:ext cx="9620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4524375" cy="1019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$1.8M ARR.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3.1× year over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5381625"/>
            <a:ext cx="476250" cy="428625"/>
          </a:xfrm>
          <a:prstGeom prst="rect">
            <a:avLst/>
          </a:prstGeom>
          <a:solidFill>
            <a:srgbClr val="A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5953125"/>
            <a:ext cx="42862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Q1'25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0700" y="5191125"/>
            <a:ext cx="476250" cy="619125"/>
          </a:xfrm>
          <a:prstGeom prst="rect">
            <a:avLst/>
          </a:prstGeom>
          <a:solidFill>
            <a:srgbClr val="A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5953125"/>
            <a:ext cx="20955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8900" y="4905375"/>
            <a:ext cx="476250" cy="904875"/>
          </a:xfrm>
          <a:prstGeom prst="rect">
            <a:avLst/>
          </a:prstGeom>
          <a:solidFill>
            <a:srgbClr val="A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0" y="5953125"/>
            <a:ext cx="20955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7100" y="4524375"/>
            <a:ext cx="476250" cy="1285875"/>
          </a:xfrm>
          <a:prstGeom prst="rect">
            <a:avLst/>
          </a:prstGeom>
          <a:solidFill>
            <a:srgbClr val="A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450" y="5953125"/>
            <a:ext cx="20955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5300" y="3952875"/>
            <a:ext cx="476250" cy="1857375"/>
          </a:xfrm>
          <a:prstGeom prst="rect">
            <a:avLst/>
          </a:prstGeom>
          <a:solidFill>
            <a:srgbClr val="A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4350" y="5953125"/>
            <a:ext cx="42862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Q1'26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238500"/>
            <a:ext cx="476250" cy="25717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850" y="5953125"/>
            <a:ext cx="20955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2857500"/>
            <a:ext cx="1000125" cy="4095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350" b="0" i="0">
                <a:solidFill>
                  <a:srgbClr val="197A55"/>
                </a:solidFill>
                <a:latin typeface="Roboto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571875"/>
            <a:ext cx="21717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Roboto"/>
              </a:rPr>
              <a:t>GROSS LOGO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3905250"/>
            <a:ext cx="140970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Trailing 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2857500"/>
            <a:ext cx="1304925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350" b="0" i="0">
                <a:solidFill>
                  <a:srgbClr val="1D1D1F"/>
                </a:solidFill>
                <a:latin typeface="Roboto"/>
              </a:rPr>
              <a:t>2,400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0" y="3571875"/>
            <a:ext cx="2095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Roboto"/>
              </a:rPr>
              <a:t>WEEKLY ACTIVE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3905250"/>
            <a:ext cx="14573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Four-week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4619625"/>
            <a:ext cx="1838325" cy="4095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350" b="0" i="0">
                <a:solidFill>
                  <a:srgbClr val="1D1D1F"/>
                </a:solidFill>
                <a:latin typeface="Roboto"/>
              </a:rPr>
              <a:t>11 WKS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5334000"/>
            <a:ext cx="11906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Roboto"/>
              </a:rPr>
              <a:t>SALES 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5667375"/>
            <a:ext cx="151447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Median, closed-won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43650"/>
            <a:ext cx="291465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operating metrics · Q2 2026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7325" y="552450"/>
            <a:ext cx="16573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6496050" cy="1028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Land with one team.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Expand with shared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143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7625"/>
            <a:ext cx="1609725" cy="676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700" b="0" i="0">
                <a:solidFill>
                  <a:srgbClr val="1D1D1F"/>
                </a:solidFill>
                <a:latin typeface="Roboto"/>
              </a:rPr>
              <a:t>$24K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57750"/>
            <a:ext cx="1400175" cy="4762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Starting ACV</a:t>
            </a:r>
          </a:p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1 product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67150" y="4333875"/>
            <a:ext cx="400050" cy="190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10050" y="430530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9150" y="3429000"/>
            <a:ext cx="7810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3857625"/>
            <a:ext cx="1609725" cy="676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700" b="0" i="0">
                <a:solidFill>
                  <a:srgbClr val="1D1D1F"/>
                </a:solidFill>
                <a:latin typeface="Roboto"/>
              </a:rPr>
              <a:t>$72K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4857750"/>
            <a:ext cx="1981200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Median year-two ACV</a:t>
            </a:r>
          </a:p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3 connected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1900" y="4333875"/>
            <a:ext cx="400050" cy="190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4800" y="430530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3429000"/>
            <a:ext cx="10953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COMPOUND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857625"/>
            <a:ext cx="1676400" cy="533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700" b="0" i="0">
                <a:solidFill>
                  <a:srgbClr val="1D1D1F"/>
                </a:solidFill>
                <a:latin typeface="Roboto"/>
              </a:rPr>
              <a:t>118%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4857750"/>
            <a:ext cx="2000250" cy="4762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Net revenue retention</a:t>
            </a:r>
          </a:p>
          <a:p>
            <a:pPr algn="l">
              <a:lnSpc>
                <a:spcPts val="2175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Trailing 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43650"/>
            <a:ext cx="37433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pricing and retention metrics · Q2 2026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1625" y="552450"/>
            <a:ext cx="14382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MARKET + 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6886575" cy="1038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Start narrow.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Expand through the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86125"/>
            <a:ext cx="2343150" cy="876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0" b="0" i="0">
                <a:solidFill>
                  <a:srgbClr val="0066CC"/>
                </a:solidFill>
                <a:latin typeface="Roboto"/>
              </a:rPr>
              <a:t>$1.2B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476750"/>
            <a:ext cx="14287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Roboto"/>
              </a:rPr>
              <a:t>INITIAL WEDGE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4905375"/>
            <a:ext cx="2533650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50K product-led companies</a:t>
            </a:r>
          </a:p>
          <a:p>
            <a:pPr algn="l">
              <a:lnSpc>
                <a:spcPts val="2250"/>
              </a:lnSpc>
            </a:pPr>
            <a:r>
              <a:rPr sz="1650" b="0" i="0">
                <a:solidFill>
                  <a:srgbClr val="6E6E73"/>
                </a:solidFill>
                <a:latin typeface="Roboto"/>
              </a:rPr>
              <a:t>× $24K starting ACV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9750" y="3095625"/>
            <a:ext cx="9525" cy="26670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250" y="314325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3143250"/>
            <a:ext cx="185737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1D1D1F"/>
                </a:solidFill>
                <a:latin typeface="Roboto"/>
              </a:rPr>
              <a:t>DESIGN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505200"/>
            <a:ext cx="299085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Founder-led proof in high-pain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0" y="409575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4095750"/>
            <a:ext cx="178117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1D1D1F"/>
                </a:solidFill>
                <a:latin typeface="Roboto"/>
              </a:rPr>
              <a:t>TEAM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457700"/>
            <a:ext cx="31337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Shared incidents invite adjacent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504825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5048250"/>
            <a:ext cx="121920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1D1D1F"/>
                </a:solidFill>
                <a:latin typeface="Roboto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0" y="5410200"/>
            <a:ext cx="387667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Security and governance unlock standardization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43650"/>
            <a:ext cx="641985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bottom-up market sizing; replace assumptions with sourced account data.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1150" y="552450"/>
            <a:ext cx="14097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8750"/>
            <a:ext cx="8620125" cy="1038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Context compounds.</a:t>
            </a:r>
          </a:p>
          <a:p>
            <a:pPr algn="l">
              <a:lnSpc>
                <a:spcPts val="4125"/>
              </a:lnSpc>
            </a:pPr>
            <a:r>
              <a:rPr sz="4200" b="0" i="0">
                <a:solidFill>
                  <a:srgbClr val="1D1D1F"/>
                </a:solidFill>
                <a:latin typeface="Roboto"/>
              </a:rPr>
              <a:t>Workflows become harder to replace.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476625"/>
            <a:ext cx="47625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250" y="2619375"/>
            <a:ext cx="9525" cy="28575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8825" y="4267200"/>
            <a:ext cx="133350" cy="133350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8375" y="4219575"/>
            <a:ext cx="1524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BI</a:t>
            </a:r>
          </a:p>
        </p:txBody>
      </p:sp>
      <p:sp>
        <p:nvSpPr>
          <p:cNvPr id="12" name="Oval 11"/>
          <p:cNvSpPr/>
          <p:nvPr/>
        </p:nvSpPr>
        <p:spPr>
          <a:xfrm>
            <a:off x="4267200" y="4410075"/>
            <a:ext cx="133350" cy="133350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4362450"/>
            <a:ext cx="8096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ALERTING</a:t>
            </a:r>
          </a:p>
        </p:txBody>
      </p:sp>
      <p:sp>
        <p:nvSpPr>
          <p:cNvPr id="14" name="Oval 13"/>
          <p:cNvSpPr/>
          <p:nvPr/>
        </p:nvSpPr>
        <p:spPr>
          <a:xfrm>
            <a:off x="4410075" y="2981325"/>
            <a:ext cx="133350" cy="133350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9625" y="2933700"/>
            <a:ext cx="8096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6E6E73"/>
                </a:solidFill>
                <a:latin typeface="Roboto"/>
              </a:rPr>
              <a:t>COPILOTS</a:t>
            </a:r>
          </a:p>
        </p:txBody>
      </p:sp>
      <p:sp>
        <p:nvSpPr>
          <p:cNvPr id="16" name="Oval 15"/>
          <p:cNvSpPr/>
          <p:nvPr/>
        </p:nvSpPr>
        <p:spPr>
          <a:xfrm>
            <a:off x="5133975" y="2705100"/>
            <a:ext cx="209550" cy="20955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1625" y="2695575"/>
            <a:ext cx="4286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3875" y="5572125"/>
            <a:ext cx="13811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MORE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2619375"/>
            <a:ext cx="12192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MORE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0875" y="3333750"/>
            <a:ext cx="18573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WHAT COMPOUNDS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390525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0" y="3857625"/>
            <a:ext cx="3219450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Decision history tied to live product</a:t>
            </a:r>
          </a:p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457200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4524375"/>
            <a:ext cx="3362325" cy="4381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Organization-specific ownership and</a:t>
            </a:r>
          </a:p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escalation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5238750"/>
            <a:ext cx="190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0" y="5191125"/>
            <a:ext cx="3390900" cy="400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Integration footprint across analytics</a:t>
            </a:r>
          </a:p>
          <a:p>
            <a:pPr algn="l">
              <a:lnSpc>
                <a:spcPts val="1875"/>
              </a:lnSpc>
            </a:pPr>
            <a:r>
              <a:rPr sz="1650" b="0" i="0">
                <a:solidFill>
                  <a:srgbClr val="1D1D1F"/>
                </a:solidFill>
                <a:latin typeface="Roboto"/>
              </a:rPr>
              <a:t>and workflow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343650"/>
            <a:ext cx="259080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competitive positioning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23875"/>
            <a:ext cx="542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0" y="552450"/>
            <a:ext cx="11430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 i="0">
                <a:solidFill>
                  <a:srgbClr val="6E6E73"/>
                </a:solidFill>
                <a:latin typeface="Roboto"/>
              </a:rPr>
              <a:t>TEAM +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975" y="552450"/>
            <a:ext cx="5810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350" b="0" i="0">
                <a:solidFill>
                  <a:srgbClr val="6E6E73"/>
                </a:solidFill>
                <a:latin typeface="Roboto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1625"/>
            <a:ext cx="3933825" cy="1276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700"/>
              </a:lnSpc>
            </a:pPr>
            <a:r>
              <a:rPr sz="5850" b="0" i="0">
                <a:solidFill>
                  <a:srgbClr val="1D1D1F"/>
                </a:solidFill>
                <a:latin typeface="Roboto"/>
              </a:rPr>
              <a:t>Raising $8M</a:t>
            </a:r>
          </a:p>
          <a:p>
            <a:pPr algn="l">
              <a:lnSpc>
                <a:spcPts val="5700"/>
              </a:lnSpc>
            </a:pPr>
            <a:r>
              <a:rPr sz="5850" b="0" i="0">
                <a:solidFill>
                  <a:srgbClr val="1D1D1F"/>
                </a:solidFill>
                <a:latin typeface="Roboto"/>
              </a:rPr>
              <a:t>Series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476625"/>
            <a:ext cx="5162550" cy="4476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875" b="0" i="0">
                <a:solidFill>
                  <a:srgbClr val="6E6E73"/>
                </a:solidFill>
                <a:latin typeface="Roboto"/>
              </a:rPr>
              <a:t>24 months to $8M ARR and repeatable enterprise</a:t>
            </a:r>
          </a:p>
          <a:p>
            <a:pPr algn="l">
              <a:lnSpc>
                <a:spcPts val="2100"/>
              </a:lnSpc>
            </a:pPr>
            <a:r>
              <a:rPr sz="1875" b="0" i="0">
                <a:solidFill>
                  <a:srgbClr val="6E6E73"/>
                </a:solidFill>
                <a:latin typeface="Roboto"/>
              </a:rPr>
              <a:t>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333875"/>
            <a:ext cx="13620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762500"/>
            <a:ext cx="2609850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75"/>
              </a:lnSpc>
            </a:pPr>
            <a:r>
              <a:rPr sz="1725" b="0" i="0">
                <a:solidFill>
                  <a:srgbClr val="1D1D1F"/>
                </a:solidFill>
                <a:latin typeface="Roboto"/>
              </a:rPr>
              <a:t>45%  Product + AI</a:t>
            </a:r>
          </a:p>
          <a:p>
            <a:pPr algn="l">
              <a:lnSpc>
                <a:spcPts val="2775"/>
              </a:lnSpc>
            </a:pPr>
            <a:r>
              <a:rPr sz="1725" b="0" i="0">
                <a:solidFill>
                  <a:srgbClr val="1D1D1F"/>
                </a:solidFill>
                <a:latin typeface="Roboto"/>
              </a:rPr>
              <a:t>35%  Enterprise GTM</a:t>
            </a:r>
          </a:p>
          <a:p>
            <a:pPr algn="l">
              <a:lnSpc>
                <a:spcPts val="2775"/>
              </a:lnSpc>
            </a:pPr>
            <a:r>
              <a:rPr sz="1725" b="0" i="0">
                <a:solidFill>
                  <a:srgbClr val="1D1D1F"/>
                </a:solidFill>
                <a:latin typeface="Roboto"/>
              </a:rPr>
              <a:t>20%  Security +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72250" y="1571625"/>
            <a:ext cx="9525" cy="41910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3750" y="1666875"/>
            <a:ext cx="15906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066CC"/>
                </a:solidFill>
                <a:latin typeface="Roboto"/>
              </a:rPr>
              <a:t>FOUNDING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0" y="2333625"/>
            <a:ext cx="1428750" cy="276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50" b="0" i="0">
                <a:solidFill>
                  <a:srgbClr val="1D1D1F"/>
                </a:solidFill>
                <a:latin typeface="Roboto"/>
              </a:rPr>
              <a:t>Maya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0" y="2762250"/>
            <a:ext cx="260985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CEO · Product analytics, ex-Atlas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0" y="3333750"/>
            <a:ext cx="1038225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50" b="0" i="0">
                <a:solidFill>
                  <a:srgbClr val="1D1D1F"/>
                </a:solidFill>
                <a:latin typeface="Roboto"/>
              </a:rPr>
              <a:t>Jon Bell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0" y="3762375"/>
            <a:ext cx="242887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CTO · Data systems, ex-Vector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0" y="4333875"/>
            <a:ext cx="1371600" cy="276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50" b="0" i="0">
                <a:solidFill>
                  <a:srgbClr val="1D1D1F"/>
                </a:solidFill>
                <a:latin typeface="Roboto"/>
              </a:rPr>
              <a:t>Priya Shah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0" y="4762500"/>
            <a:ext cx="283845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0" i="0">
                <a:solidFill>
                  <a:srgbClr val="6E6E73"/>
                </a:solidFill>
                <a:latin typeface="Roboto"/>
              </a:rPr>
              <a:t>VP GTM · Enterprise SaaS, ex-North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0" y="5572125"/>
            <a:ext cx="327660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6E6E73"/>
                </a:solidFill>
                <a:latin typeface="Roboto"/>
              </a:rPr>
              <a:t>Illustrative names, roles, and financing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6475" y="6191250"/>
            <a:ext cx="1381125" cy="2000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575" b="1" i="0">
                <a:solidFill>
                  <a:srgbClr val="0066CC"/>
                </a:solidFill>
                <a:latin typeface="Roboto"/>
              </a:rPr>
              <a:t>invest@vela.so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