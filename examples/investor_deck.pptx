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EE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14350"/>
            <a:ext cx="2000250" cy="13335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F45A3A"/>
                </a:solidFill>
                <a:latin typeface="Pretendard"/>
              </a:rPr>
              <a:t>MOA  /  SEED ROUND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44200" y="514350"/>
            <a:ext cx="762000" cy="104775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r"/>
            <a:r>
              <a:rPr sz="1125" b="1" i="0">
                <a:solidFill>
                  <a:srgbClr val="68716C"/>
                </a:solidFill>
                <a:latin typeface="Pretendard"/>
              </a:rPr>
              <a:t>2026. 07</a:t>
            </a:r>
          </a:p>
        </p:txBody>
      </p:sp>
      <p:sp>
        <p:nvSpPr>
          <p:cNvPr id="5" name="Oval 4"/>
          <p:cNvSpPr/>
          <p:nvPr/>
        </p:nvSpPr>
        <p:spPr>
          <a:xfrm>
            <a:off x="7477125" y="1304925"/>
            <a:ext cx="4095750" cy="4095750"/>
          </a:xfrm>
          <a:prstGeom prst="ellipse">
            <a:avLst/>
          </a:prstGeom>
          <a:solidFill>
            <a:srgbClr val="1D4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20125" y="2447925"/>
            <a:ext cx="1809750" cy="1809750"/>
          </a:xfrm>
          <a:prstGeom prst="ellipse">
            <a:avLst/>
          </a:prstGeom>
          <a:solidFill>
            <a:srgbClr val="F45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447800"/>
            <a:ext cx="5353050" cy="222885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6075"/>
              </a:lnSpc>
            </a:pPr>
            <a:r>
              <a:rPr sz="6000" b="1" i="0">
                <a:solidFill>
                  <a:srgbClr val="17211D"/>
                </a:solidFill>
                <a:latin typeface="Pretendard"/>
              </a:rPr>
              <a:t>돈을 관리하는 일이</a:t>
            </a:r>
          </a:p>
          <a:p>
            <a:pPr algn="l">
              <a:lnSpc>
                <a:spcPts val="6075"/>
              </a:lnSpc>
            </a:pPr>
            <a:r>
              <a:rPr sz="6000" b="1" i="0">
                <a:solidFill>
                  <a:srgbClr val="17211D"/>
                </a:solidFill>
                <a:latin typeface="Pretendard"/>
              </a:rPr>
              <a:t>삶을 미루는 일이</a:t>
            </a:r>
          </a:p>
          <a:p>
            <a:pPr algn="l">
              <a:lnSpc>
                <a:spcPts val="6075"/>
              </a:lnSpc>
            </a:pPr>
            <a:r>
              <a:rPr sz="6000" b="1" i="0">
                <a:solidFill>
                  <a:srgbClr val="17211D"/>
                </a:solidFill>
                <a:latin typeface="Pretendard"/>
              </a:rPr>
              <a:t>되지 않도록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3900" y="4895850"/>
            <a:ext cx="5638800" cy="219075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/>
            <a:r>
              <a:rPr sz="1875" b="0" i="0">
                <a:solidFill>
                  <a:srgbClr val="68716C"/>
                </a:solidFill>
                <a:latin typeface="Pretendard"/>
              </a:rPr>
              <a:t>생활비 데이터를 오늘의 선택으로 바꾸는 개인 금융 코파일럿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6057900"/>
            <a:ext cx="10820400" cy="9525"/>
          </a:xfrm>
          <a:prstGeom prst="rect">
            <a:avLst/>
          </a:prstGeom>
          <a:solidFill>
            <a:srgbClr val="17211D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210800" y="6324600"/>
            <a:ext cx="1295400" cy="104775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r"/>
            <a:r>
              <a:rPr sz="1050" b="1" i="0">
                <a:solidFill>
                  <a:srgbClr val="68716C"/>
                </a:solidFill>
                <a:latin typeface="Pretendard"/>
              </a:rPr>
              <a:t>CONFIDENTIAL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8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12" dur="5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0" dur="5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par>
              <p:cTn id="3" fill="hold">
                <p:stCondLst>
                  <p:cond delay="0"/>
                </p:stCondLst>
                <p:childTnLst>
                  <p:set>
                    <p:cBhvr>
                      <p:cTn id="4" dur="1" fill="hold">
                        <p:stCondLst>
                          <p:cond delay="0"/>
                        </p:stCondLst>
                      </p:cTn>
                      <p:tgtEl>
                        <p:spTgt spid="5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5" dur="1" fill="hold">
                        <p:stCondLst>
                          <p:cond delay="0"/>
                        </p:stCondLst>
                      </p:cTn>
                      <p:tgtEl>
                        <p:spTgt spid="6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6" dur="1" fill="hold">
                        <p:stCondLst>
                          <p:cond delay="0"/>
                        </p:stCondLst>
                      </p:cTn>
                      <p:tgtEl>
                        <p:spTgt spid="7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7" dur="1" fill="hold">
                        <p:stCondLst>
                          <p:cond delay="0"/>
                        </p:stCondLst>
                      </p:cTn>
                      <p:tgtEl>
                        <p:spTgt spid="8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</p:childTnLst>
              </p:cTn>
            </p:par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72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14350"/>
            <a:ext cx="1857375" cy="13335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F45A3A"/>
                </a:solidFill>
                <a:latin typeface="Pretendard"/>
              </a:rPr>
              <a:t>01  /  THE TENSION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6650" y="514350"/>
            <a:ext cx="209550" cy="104775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r"/>
            <a:r>
              <a:rPr sz="1125" b="1" i="0">
                <a:solidFill>
                  <a:srgbClr val="68716C"/>
                </a:solidFill>
                <a:latin typeface="Pretendard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238250"/>
            <a:ext cx="5048250" cy="13716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5775"/>
              </a:lnSpc>
            </a:pPr>
            <a:r>
              <a:rPr sz="5625" b="1" i="0">
                <a:solidFill>
                  <a:srgbClr val="FFFDF7"/>
                </a:solidFill>
                <a:latin typeface="Pretendard"/>
              </a:rPr>
              <a:t>월급은 숫자인데,</a:t>
            </a:r>
          </a:p>
          <a:p>
            <a:pPr algn="l">
              <a:lnSpc>
                <a:spcPts val="5775"/>
              </a:lnSpc>
            </a:pPr>
            <a:r>
              <a:rPr sz="5625" b="1" i="0">
                <a:solidFill>
                  <a:srgbClr val="FFFDF7"/>
                </a:solidFill>
                <a:latin typeface="Pretendard"/>
              </a:rPr>
              <a:t>불안은 감각입니다.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20050" y="1352550"/>
            <a:ext cx="3686175" cy="1247775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/>
            <a:r>
              <a:rPr sz="12900" b="1" i="0">
                <a:solidFill>
                  <a:srgbClr val="F45A3A"/>
                </a:solidFill>
                <a:latin typeface="Pretendard"/>
              </a:rPr>
              <a:t>68%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72450" y="3162300"/>
            <a:ext cx="2019300" cy="466725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100"/>
              </a:lnSpc>
            </a:pPr>
            <a:r>
              <a:rPr sz="1725" b="0" i="0">
                <a:solidFill>
                  <a:srgbClr val="B9D9C8"/>
                </a:solidFill>
                <a:latin typeface="Pretendard"/>
              </a:rPr>
              <a:t>다음 달 지출을 정확히</a:t>
            </a:r>
          </a:p>
          <a:p>
            <a:pPr algn="l">
              <a:lnSpc>
                <a:spcPts val="2100"/>
              </a:lnSpc>
            </a:pPr>
            <a:r>
              <a:rPr sz="1725" b="0" i="0">
                <a:solidFill>
                  <a:srgbClr val="B9D9C8"/>
                </a:solidFill>
                <a:latin typeface="Pretendard"/>
              </a:rPr>
              <a:t>예상하지 못하는 직장인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4762500"/>
            <a:ext cx="3314700" cy="9525"/>
          </a:xfrm>
          <a:prstGeom prst="rect">
            <a:avLst/>
          </a:prstGeom>
          <a:solidFill>
            <a:srgbClr val="FFFFFF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5067300"/>
            <a:ext cx="171450" cy="1143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F45A3A"/>
                </a:solidFill>
                <a:latin typeface="Pretendard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1100" y="5010150"/>
            <a:ext cx="1104900" cy="238125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/>
            <a:r>
              <a:rPr sz="1950" b="1" i="0">
                <a:solidFill>
                  <a:srgbClr val="FFFDF7"/>
                </a:solidFill>
                <a:latin typeface="Pretendard"/>
              </a:rPr>
              <a:t>흩어진 기록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1100" y="5467350"/>
            <a:ext cx="1657350" cy="40005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800"/>
              </a:lnSpc>
            </a:pPr>
            <a:r>
              <a:rPr sz="1425" b="0" i="0">
                <a:solidFill>
                  <a:srgbClr val="C7D0CB"/>
                </a:solidFill>
                <a:latin typeface="Pretendard"/>
              </a:rPr>
              <a:t>카드, 계좌, 메모에</a:t>
            </a:r>
          </a:p>
          <a:p>
            <a:pPr algn="l">
              <a:lnSpc>
                <a:spcPts val="1800"/>
              </a:lnSpc>
            </a:pPr>
            <a:r>
              <a:rPr sz="1425" b="0" i="0">
                <a:solidFill>
                  <a:srgbClr val="C7D0CB"/>
                </a:solidFill>
                <a:latin typeface="Pretendard"/>
              </a:rPr>
              <a:t>생활의 맥락이 나뉩니다.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62450" y="4762500"/>
            <a:ext cx="3314700" cy="9525"/>
          </a:xfrm>
          <a:prstGeom prst="rect">
            <a:avLst/>
          </a:prstGeom>
          <a:solidFill>
            <a:srgbClr val="FFFFFF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62450" y="5067300"/>
            <a:ext cx="200025" cy="1143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F45A3A"/>
                </a:solidFill>
                <a:latin typeface="Pretendard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57750" y="5010150"/>
            <a:ext cx="895350" cy="2286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/>
            <a:r>
              <a:rPr sz="1950" b="1" i="0">
                <a:solidFill>
                  <a:srgbClr val="FFFDF7"/>
                </a:solidFill>
                <a:latin typeface="Pretendard"/>
              </a:rPr>
              <a:t>늦은 알림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57750" y="5467350"/>
            <a:ext cx="1704975" cy="390525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800"/>
              </a:lnSpc>
            </a:pPr>
            <a:r>
              <a:rPr sz="1425" b="0" i="0">
                <a:solidFill>
                  <a:srgbClr val="C7D0CB"/>
                </a:solidFill>
                <a:latin typeface="Pretendard"/>
              </a:rPr>
              <a:t>이미 쓴 뒤에야</a:t>
            </a:r>
          </a:p>
          <a:p>
            <a:pPr algn="l">
              <a:lnSpc>
                <a:spcPts val="1800"/>
              </a:lnSpc>
            </a:pPr>
            <a:r>
              <a:rPr sz="1425" b="0" i="0">
                <a:solidFill>
                  <a:srgbClr val="C7D0CB"/>
                </a:solidFill>
                <a:latin typeface="Pretendard"/>
              </a:rPr>
              <a:t>예산 초과를 알게 됩니다.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9100" y="4762500"/>
            <a:ext cx="3314700" cy="9525"/>
          </a:xfrm>
          <a:prstGeom prst="rect">
            <a:avLst/>
          </a:prstGeom>
          <a:solidFill>
            <a:srgbClr val="FFFFFF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9100" y="5067300"/>
            <a:ext cx="200025" cy="1143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F45A3A"/>
                </a:solidFill>
                <a:latin typeface="Pretendard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34400" y="5010150"/>
            <a:ext cx="1104900" cy="238125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/>
            <a:r>
              <a:rPr sz="1950" b="1" i="0">
                <a:solidFill>
                  <a:srgbClr val="FFFDF7"/>
                </a:solidFill>
                <a:latin typeface="Pretendard"/>
              </a:rPr>
              <a:t>막연한 조언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34400" y="5467350"/>
            <a:ext cx="1304925" cy="390525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800"/>
              </a:lnSpc>
            </a:pPr>
            <a:r>
              <a:rPr sz="1425" b="0" i="0">
                <a:solidFill>
                  <a:srgbClr val="C7D0CB"/>
                </a:solidFill>
                <a:latin typeface="Pretendard"/>
              </a:rPr>
              <a:t>내 일상과 무관한</a:t>
            </a:r>
          </a:p>
          <a:p>
            <a:pPr algn="l">
              <a:lnSpc>
                <a:spcPts val="1800"/>
              </a:lnSpc>
            </a:pPr>
            <a:r>
              <a:rPr sz="1425" b="0" i="0">
                <a:solidFill>
                  <a:srgbClr val="C7D0CB"/>
                </a:solidFill>
                <a:latin typeface="Pretendard"/>
              </a:rPr>
              <a:t>평균만 돌아옵니다.</a:t>
            </a:r>
          </a:p>
        </p:txBody>
      </p:sp>
    </p:spTree>
  </p:cSld>
  <p:clrMapOvr>
    <a:masterClrMapping/>
  </p:clrMapOvr>
  <p:transition xmlns:p14="http://schemas.microsoft.com/office/powerpoint/2010/main" spd="med" advClick="1" p14:dur="600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2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8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16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par>
              <p:cTn id="3" fill="hold">
                <p:stCondLst>
                  <p:cond delay="0"/>
                </p:stCondLst>
                <p:childTnLst>
                  <p:set>
                    <p:cBhvr>
                      <p:cTn id="4" dur="1" fill="hold">
                        <p:stCondLst>
                          <p:cond delay="0"/>
                        </p:stCondLst>
                      </p:cTn>
                      <p:tgtEl>
                        <p:spTgt spid="5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5" dur="1" fill="hold">
                        <p:stCondLst>
                          <p:cond delay="0"/>
                        </p:stCondLst>
                      </p:cTn>
                      <p:tgtEl>
                        <p:spTgt spid="6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6" dur="1" fill="hold">
                        <p:stCondLst>
                          <p:cond delay="0"/>
                        </p:stCondLst>
                      </p:cTn>
                      <p:tgtEl>
                        <p:spTgt spid="7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</p:childTnLst>
              </p:cTn>
            </p:par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EE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14350"/>
            <a:ext cx="1962150" cy="13335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F45A3A"/>
                </a:solidFill>
                <a:latin typeface="Pretendard"/>
              </a:rPr>
              <a:t>02  /  THE PRODUCT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6650" y="514350"/>
            <a:ext cx="209550" cy="104775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r"/>
            <a:r>
              <a:rPr sz="1125" b="1" i="0">
                <a:solidFill>
                  <a:srgbClr val="68716C"/>
                </a:solidFill>
                <a:latin typeface="Pretendard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162050"/>
            <a:ext cx="5638800" cy="1114425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4725"/>
              </a:lnSpc>
            </a:pPr>
            <a:r>
              <a:rPr sz="4425" b="1" i="0">
                <a:solidFill>
                  <a:srgbClr val="17211D"/>
                </a:solidFill>
                <a:latin typeface="Pretendard"/>
              </a:rPr>
              <a:t>기록에서 행동까지,</a:t>
            </a:r>
          </a:p>
          <a:p>
            <a:pPr algn="l">
              <a:lnSpc>
                <a:spcPts val="4725"/>
              </a:lnSpc>
            </a:pPr>
            <a:r>
              <a:rPr sz="4425" b="1" i="0">
                <a:solidFill>
                  <a:srgbClr val="17211D"/>
                </a:solidFill>
                <a:latin typeface="Pretendard"/>
              </a:rPr>
              <a:t>하루 한 번이면 충분합니다.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524750" y="1390650"/>
            <a:ext cx="3438525" cy="485775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250"/>
              </a:lnSpc>
            </a:pPr>
            <a:r>
              <a:rPr sz="1725" b="0" i="0">
                <a:solidFill>
                  <a:srgbClr val="68716C"/>
                </a:solidFill>
                <a:latin typeface="Pretendard"/>
              </a:rPr>
              <a:t>모아는 거래 내역을 보여주는 대신</a:t>
            </a:r>
          </a:p>
          <a:p>
            <a:pPr algn="l">
              <a:lnSpc>
                <a:spcPts val="2250"/>
              </a:lnSpc>
            </a:pPr>
            <a:r>
              <a:rPr sz="1725" b="0" i="0">
                <a:solidFill>
                  <a:srgbClr val="68716C"/>
                </a:solidFill>
                <a:latin typeface="Pretendard"/>
              </a:rPr>
              <a:t>오늘 바꿀 수 있는 한 가지를 제안합니다.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3638550"/>
            <a:ext cx="3314700" cy="2247900"/>
          </a:xfrm>
          <a:prstGeom prst="roundRect">
            <a:avLst>
              <a:gd name="adj" fmla="val 3389"/>
            </a:avLst>
          </a:prstGeom>
          <a:solidFill>
            <a:srgbClr val="FFFDF7"/>
          </a:solidFill>
          <a:ln>
            <a:noFill/>
          </a:ln>
          <a:effectLst>
            <a:outerShdw blurRad="533400" dist="152400" dir="5400000" rotWithShape="0">
              <a:srgbClr val="0B1712">
                <a:alpha val="25098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6300" y="3829050"/>
            <a:ext cx="533400" cy="533400"/>
          </a:xfrm>
          <a:prstGeom prst="ellipse">
            <a:avLst/>
          </a:prstGeom>
          <a:solidFill>
            <a:srgbClr val="1D4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7275" y="4038600"/>
            <a:ext cx="171450" cy="1143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ctr"/>
            <a:r>
              <a:rPr sz="1200" b="1" i="0">
                <a:solidFill>
                  <a:srgbClr val="FFFDF7"/>
                </a:solidFill>
                <a:latin typeface="Pretendard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2500" y="4705350"/>
            <a:ext cx="800100" cy="238125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/>
            <a:r>
              <a:rPr sz="2400" b="1" i="0">
                <a:solidFill>
                  <a:srgbClr val="17211D"/>
                </a:solidFill>
                <a:latin typeface="Pretendard"/>
              </a:rPr>
              <a:t>모으고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2500" y="5257800"/>
            <a:ext cx="1247775" cy="180975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/>
            <a:r>
              <a:rPr sz="1575" b="0" i="0">
                <a:solidFill>
                  <a:srgbClr val="68716C"/>
                </a:solidFill>
                <a:latin typeface="Pretendard"/>
              </a:rPr>
              <a:t>자동으로 맥락화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62450" y="3638550"/>
            <a:ext cx="3314700" cy="2247900"/>
          </a:xfrm>
          <a:prstGeom prst="roundRect">
            <a:avLst>
              <a:gd name="adj" fmla="val 3389"/>
            </a:avLst>
          </a:prstGeom>
          <a:solidFill>
            <a:srgbClr val="FFFDF7"/>
          </a:solidFill>
          <a:ln>
            <a:noFill/>
          </a:ln>
          <a:effectLst>
            <a:outerShdw blurRad="533400" dist="152400" dir="5400000" rotWithShape="0">
              <a:srgbClr val="0B1712">
                <a:alpha val="25098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552950" y="3829050"/>
            <a:ext cx="533400" cy="533400"/>
          </a:xfrm>
          <a:prstGeom prst="ellipse">
            <a:avLst/>
          </a:prstGeom>
          <a:solidFill>
            <a:srgbClr val="F45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14875" y="4038600"/>
            <a:ext cx="200025" cy="1143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ctr"/>
            <a:r>
              <a:rPr sz="1200" b="1" i="0">
                <a:solidFill>
                  <a:srgbClr val="FFFDF7"/>
                </a:solidFill>
                <a:latin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9150" y="4705350"/>
            <a:ext cx="1066800" cy="276225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/>
            <a:r>
              <a:rPr sz="2400" b="1" i="0">
                <a:solidFill>
                  <a:srgbClr val="17211D"/>
                </a:solidFill>
                <a:latin typeface="Pretendard"/>
              </a:rPr>
              <a:t>내다보고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29150" y="5257800"/>
            <a:ext cx="1066800" cy="180975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/>
            <a:r>
              <a:rPr sz="1575" b="0" i="0">
                <a:solidFill>
                  <a:srgbClr val="68716C"/>
                </a:solidFill>
                <a:latin typeface="Pretendard"/>
              </a:rPr>
              <a:t>7일 뒤를 예측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39100" y="3638550"/>
            <a:ext cx="3314700" cy="2247900"/>
          </a:xfrm>
          <a:prstGeom prst="roundRect">
            <a:avLst>
              <a:gd name="adj" fmla="val 3389"/>
            </a:avLst>
          </a:prstGeom>
          <a:solidFill>
            <a:srgbClr val="FFFDF7"/>
          </a:solidFill>
          <a:ln>
            <a:noFill/>
          </a:ln>
          <a:effectLst>
            <a:outerShdw blurRad="533400" dist="152400" dir="5400000" rotWithShape="0">
              <a:srgbClr val="0B1712">
                <a:alpha val="25098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229600" y="3829050"/>
            <a:ext cx="533400" cy="533400"/>
          </a:xfrm>
          <a:prstGeom prst="ellipse">
            <a:avLst/>
          </a:prstGeom>
          <a:solidFill>
            <a:srgbClr val="1D4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91525" y="4038600"/>
            <a:ext cx="200025" cy="1143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ctr"/>
            <a:r>
              <a:rPr sz="1200" b="1" i="0">
                <a:solidFill>
                  <a:srgbClr val="FFFDF7"/>
                </a:solidFill>
                <a:latin typeface="Pretendard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05800" y="4705350"/>
            <a:ext cx="1066800" cy="276225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/>
            <a:r>
              <a:rPr sz="2400" b="1" i="0">
                <a:solidFill>
                  <a:srgbClr val="17211D"/>
                </a:solidFill>
                <a:latin typeface="Pretendard"/>
              </a:rPr>
              <a:t>바꿉니다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05800" y="5257800"/>
            <a:ext cx="1343025" cy="180975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/>
            <a:r>
              <a:rPr sz="1575" b="0" i="0">
                <a:solidFill>
                  <a:srgbClr val="68716C"/>
                </a:solidFill>
                <a:latin typeface="Pretendard"/>
              </a:rPr>
              <a:t>한 가지 행동 제안</a:t>
            </a:r>
          </a:p>
        </p:txBody>
      </p:sp>
    </p:spTree>
  </p:cSld>
  <p:clrMapOvr>
    <a:masterClrMapping/>
  </p:clrMapOvr>
  <p:transition xmlns:p14="http://schemas.microsoft.com/office/powerpoint/2010/main" spd="fast" advClick="1" p14:dur="500">
    <p:wipe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8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1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8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22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8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27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par>
              <p:cTn id="3" fill="hold">
                <p:stCondLst>
                  <p:cond delay="0"/>
                </p:stCondLst>
                <p:childTnLst>
                  <p:set>
                    <p:cBhvr>
                      <p:cTn id="4" dur="1" fill="hold">
                        <p:stCondLst>
                          <p:cond delay="0"/>
                        </p:stCondLst>
                      </p:cTn>
                      <p:tgtEl>
                        <p:spTgt spid="5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5" dur="1" fill="hold">
                        <p:stCondLst>
                          <p:cond delay="0"/>
                        </p:stCondLst>
                      </p:cTn>
                      <p:tgtEl>
                        <p:spTgt spid="7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6" dur="1" fill="hold">
                        <p:stCondLst>
                          <p:cond delay="0"/>
                        </p:stCondLst>
                      </p:cTn>
                      <p:tgtEl>
                        <p:spTgt spid="12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7" dur="1" fill="hold">
                        <p:stCondLst>
                          <p:cond delay="0"/>
                        </p:stCondLst>
                      </p:cTn>
                      <p:tgtEl>
                        <p:spTgt spid="17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</p:childTnLst>
              </p:cTn>
            </p:par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D4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14350"/>
            <a:ext cx="1724025" cy="13335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F45A3A"/>
                </a:solidFill>
                <a:latin typeface="Pretendard"/>
              </a:rPr>
              <a:t>03  /  MOMENTUM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87125" y="514350"/>
            <a:ext cx="219075" cy="104775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r"/>
            <a:r>
              <a:rPr sz="1125" b="1" i="0">
                <a:solidFill>
                  <a:srgbClr val="68716C"/>
                </a:solidFill>
                <a:latin typeface="Pretendard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143000"/>
            <a:ext cx="6410325" cy="108585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4575"/>
              </a:lnSpc>
            </a:pPr>
            <a:r>
              <a:rPr sz="4350" b="1" i="0">
                <a:solidFill>
                  <a:srgbClr val="FFFDF7"/>
                </a:solidFill>
                <a:latin typeface="Pretendard"/>
              </a:rPr>
              <a:t>사람들이 돌아오는 이유는</a:t>
            </a:r>
          </a:p>
          <a:p>
            <a:pPr algn="l">
              <a:lnSpc>
                <a:spcPts val="4575"/>
              </a:lnSpc>
            </a:pPr>
            <a:r>
              <a:rPr sz="4350" b="1" i="0">
                <a:solidFill>
                  <a:srgbClr val="FFFDF7"/>
                </a:solidFill>
                <a:latin typeface="Pretendard"/>
              </a:rPr>
              <a:t>절약이 눈에 보이기 때문입니다.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3714750"/>
            <a:ext cx="3314700" cy="9525"/>
          </a:xfrm>
          <a:prstGeom prst="rect">
            <a:avLst/>
          </a:prstGeom>
          <a:solidFill>
            <a:srgbClr val="FFFFFF">
              <a:alpha val="26666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4114800"/>
            <a:ext cx="1552575" cy="5715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/>
            <a:r>
              <a:rPr sz="5175" b="1" i="0">
                <a:solidFill>
                  <a:srgbClr val="FFFDF7"/>
                </a:solidFill>
                <a:latin typeface="Pretendard"/>
              </a:rPr>
              <a:t>4.8만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5010150"/>
            <a:ext cx="1304925" cy="180975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/>
            <a:r>
              <a:rPr sz="1575" b="0" i="0">
                <a:solidFill>
                  <a:srgbClr val="B9D9C8"/>
                </a:solidFill>
                <a:latin typeface="Pretendard"/>
              </a:rPr>
              <a:t>월간 활성 사용자</a:t>
            </a:r>
          </a:p>
        </p:txBody>
      </p:sp>
      <p:sp>
        <p:nvSpPr>
          <p:cNvPr id="9" name="Rectangle 8"/>
          <p:cNvSpPr/>
          <p:nvPr/>
        </p:nvSpPr>
        <p:spPr>
          <a:xfrm>
            <a:off x="4362450" y="3714750"/>
            <a:ext cx="3314700" cy="9525"/>
          </a:xfrm>
          <a:prstGeom prst="rect">
            <a:avLst/>
          </a:prstGeom>
          <a:solidFill>
            <a:srgbClr val="FFFFFF">
              <a:alpha val="26666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62450" y="4114800"/>
            <a:ext cx="1266825" cy="4953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/>
            <a:r>
              <a:rPr sz="5175" b="1" i="0">
                <a:solidFill>
                  <a:srgbClr val="FFFDF7"/>
                </a:solidFill>
                <a:latin typeface="Pretendard"/>
              </a:rPr>
              <a:t>71%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62450" y="5010150"/>
            <a:ext cx="1028700" cy="180975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/>
            <a:r>
              <a:rPr sz="1575" b="0" i="0">
                <a:solidFill>
                  <a:srgbClr val="B9D9C8"/>
                </a:solidFill>
                <a:latin typeface="Pretendard"/>
              </a:rPr>
              <a:t>8주차 잔존율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39100" y="3714750"/>
            <a:ext cx="3314700" cy="9525"/>
          </a:xfrm>
          <a:prstGeom prst="rect">
            <a:avLst/>
          </a:prstGeom>
          <a:solidFill>
            <a:srgbClr val="FFFFFF">
              <a:alpha val="26666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39100" y="4114800"/>
            <a:ext cx="2819400" cy="6096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/>
            <a:r>
              <a:rPr sz="5175" b="1" i="0">
                <a:solidFill>
                  <a:srgbClr val="F45A3A"/>
                </a:solidFill>
                <a:latin typeface="Pretendard"/>
              </a:rPr>
              <a:t>₩84,000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9100" y="5010150"/>
            <a:ext cx="1076325" cy="180975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/>
            <a:r>
              <a:rPr sz="1575" b="0" i="0">
                <a:solidFill>
                  <a:srgbClr val="B9D9C8"/>
                </a:solidFill>
                <a:latin typeface="Pretendard"/>
              </a:rPr>
              <a:t>월평균 절약액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6191250"/>
            <a:ext cx="4829175" cy="180975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/>
            <a:r>
              <a:rPr sz="1575" b="0" i="1">
                <a:solidFill>
                  <a:srgbClr val="E7F0EB"/>
                </a:solidFill>
                <a:latin typeface="Pretendard"/>
              </a:rPr>
              <a:t>“처음으로 다음 달이 덜 막막해졌어요.”  —  베타 사용자 인터뷰</a:t>
            </a:r>
          </a:p>
        </p:txBody>
      </p:sp>
    </p:spTree>
  </p:cSld>
  <p:clrMapOvr>
    <a:masterClrMapping/>
  </p:clrMapOvr>
  <p:transition xmlns:p14="http://schemas.microsoft.com/office/powerpoint/2010/main" spd="med" advClick="1" p14:dur="600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8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18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8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23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8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28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par>
              <p:cTn id="3" fill="hold">
                <p:stCondLst>
                  <p:cond delay="0"/>
                </p:stCondLst>
                <p:childTnLst>
                  <p:set>
                    <p:cBhvr>
                      <p:cTn id="4" dur="1" fill="hold">
                        <p:stCondLst>
                          <p:cond delay="0"/>
                        </p:stCondLst>
                      </p:cTn>
                      <p:tgtEl>
                        <p:spTgt spid="5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5" dur="1" fill="hold">
                        <p:stCondLst>
                          <p:cond delay="0"/>
                        </p:stCondLst>
                      </p:cTn>
                      <p:tgtEl>
                        <p:spTgt spid="7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6" dur="1" fill="hold">
                        <p:stCondLst>
                          <p:cond delay="0"/>
                        </p:stCondLst>
                      </p:cTn>
                      <p:tgtEl>
                        <p:spTgt spid="10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7" dur="1" fill="hold">
                        <p:stCondLst>
                          <p:cond delay="0"/>
                        </p:stCondLst>
                      </p:cTn>
                      <p:tgtEl>
                        <p:spTgt spid="13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8" dur="1" fill="hold">
                        <p:stCondLst>
                          <p:cond delay="0"/>
                        </p:stCondLst>
                      </p:cTn>
                      <p:tgtEl>
                        <p:spTgt spid="15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</p:childTnLst>
              </p:cTn>
            </p:par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5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14350"/>
            <a:ext cx="1447800" cy="13335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17211D"/>
                </a:solidFill>
                <a:latin typeface="Pretendard"/>
              </a:rPr>
              <a:t>04  /  THE ASK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06175" y="514350"/>
            <a:ext cx="200025" cy="104775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r"/>
            <a:r>
              <a:rPr sz="1125" b="1" i="0">
                <a:solidFill>
                  <a:srgbClr val="17211D"/>
                </a:solidFill>
                <a:latin typeface="Pretendard"/>
              </a:rP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219200"/>
            <a:ext cx="5095875" cy="207645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5625"/>
              </a:lnSpc>
            </a:pPr>
            <a:r>
              <a:rPr sz="5700" b="1" i="0">
                <a:solidFill>
                  <a:srgbClr val="17211D"/>
                </a:solidFill>
                <a:latin typeface="Pretendard"/>
              </a:rPr>
              <a:t>18개월 뒤,</a:t>
            </a:r>
          </a:p>
          <a:p>
            <a:pPr algn="l">
              <a:lnSpc>
                <a:spcPts val="5625"/>
              </a:lnSpc>
            </a:pPr>
            <a:r>
              <a:rPr sz="5700" b="1" i="0">
                <a:solidFill>
                  <a:srgbClr val="17211D"/>
                </a:solidFill>
                <a:latin typeface="Pretendard"/>
              </a:rPr>
              <a:t>100만 명의 내일을</a:t>
            </a:r>
          </a:p>
          <a:p>
            <a:pPr algn="l">
              <a:lnSpc>
                <a:spcPts val="5625"/>
              </a:lnSpc>
            </a:pPr>
            <a:r>
              <a:rPr sz="5700" b="1" i="0">
                <a:solidFill>
                  <a:srgbClr val="17211D"/>
                </a:solidFill>
                <a:latin typeface="Pretendard"/>
              </a:rPr>
              <a:t>조금 더 선명하게.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91450" y="1257300"/>
            <a:ext cx="3714750" cy="4095750"/>
          </a:xfrm>
          <a:prstGeom prst="roundRect">
            <a:avLst>
              <a:gd name="adj" fmla="val 2051"/>
            </a:avLst>
          </a:prstGeom>
          <a:solidFill>
            <a:srgbClr val="17211D"/>
          </a:solidFill>
          <a:ln>
            <a:noFill/>
          </a:ln>
          <a:effectLst>
            <a:outerShdw blurRad="533400" dist="152400" dir="5400000" rotWithShape="0">
              <a:srgbClr val="0B1712">
                <a:alpha val="25098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72450" y="1676400"/>
            <a:ext cx="1200150" cy="1143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B9D9C8"/>
                </a:solidFill>
                <a:latin typeface="Pretendard"/>
              </a:rPr>
              <a:t>SEED ROUND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53400" y="2171700"/>
            <a:ext cx="2009775" cy="55245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/>
            <a:r>
              <a:rPr sz="4875" b="1" i="0">
                <a:solidFill>
                  <a:srgbClr val="FFFDF7"/>
                </a:solidFill>
                <a:latin typeface="Pretendard"/>
              </a:rPr>
              <a:t>30억 원</a:t>
            </a:r>
          </a:p>
        </p:txBody>
      </p:sp>
      <p:sp>
        <p:nvSpPr>
          <p:cNvPr id="9" name="Rectangle 8"/>
          <p:cNvSpPr/>
          <p:nvPr/>
        </p:nvSpPr>
        <p:spPr>
          <a:xfrm>
            <a:off x="8172450" y="3086100"/>
            <a:ext cx="2952750" cy="9525"/>
          </a:xfrm>
          <a:prstGeom prst="rect">
            <a:avLst/>
          </a:prstGeom>
          <a:solidFill>
            <a:srgbClr val="FFFFFF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72450" y="3409950"/>
            <a:ext cx="1390650" cy="885825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700"/>
              </a:lnSpc>
            </a:pPr>
            <a:r>
              <a:rPr sz="1725" b="0" i="0">
                <a:solidFill>
                  <a:srgbClr val="D8E3DD"/>
                </a:solidFill>
                <a:latin typeface="Pretendard"/>
              </a:rPr>
              <a:t>제품  45%</a:t>
            </a:r>
          </a:p>
          <a:p>
            <a:pPr algn="l">
              <a:lnSpc>
                <a:spcPts val="2700"/>
              </a:lnSpc>
            </a:pPr>
            <a:r>
              <a:rPr sz="1725" b="0" i="0">
                <a:solidFill>
                  <a:srgbClr val="D8E3DD"/>
                </a:solidFill>
                <a:latin typeface="Pretendard"/>
              </a:rPr>
              <a:t>데이터  35%</a:t>
            </a:r>
          </a:p>
          <a:p>
            <a:pPr algn="l">
              <a:lnSpc>
                <a:spcPts val="2700"/>
              </a:lnSpc>
            </a:pPr>
            <a:r>
              <a:rPr sz="1725" b="0" i="0">
                <a:solidFill>
                  <a:srgbClr val="D8E3DD"/>
                </a:solidFill>
                <a:latin typeface="Pretendard"/>
              </a:rPr>
              <a:t>시장 확장  20%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6191250"/>
            <a:ext cx="3467100" cy="17145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/>
            <a:r>
              <a:rPr sz="1350" b="1" i="0">
                <a:solidFill>
                  <a:srgbClr val="17211D"/>
                </a:solidFill>
                <a:latin typeface="Pretendard"/>
              </a:rPr>
              <a:t>hello@moa.money  ·  moa.money/deck</a:t>
            </a:r>
          </a:p>
        </p:txBody>
      </p:sp>
    </p:spTree>
  </p:cSld>
  <p:clrMapOvr>
    <a:masterClrMapping/>
  </p:clrMapOvr>
  <p:transition xmlns:p14="http://schemas.microsoft.com/office/powerpoint/2010/main" spd="med" advClick="1" p14:dur="600">
    <p:cover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8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10" dur="5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par>
              <p:cTn id="3" fill="hold">
                <p:stCondLst>
                  <p:cond delay="0"/>
                </p:stCondLst>
                <p:childTnLst>
                  <p:set>
                    <p:cBhvr>
                      <p:cTn id="4" dur="1" fill="hold">
                        <p:stCondLst>
                          <p:cond delay="0"/>
                        </p:stCondLst>
                      </p:cTn>
                      <p:tgtEl>
                        <p:spTgt spid="5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5" dur="1" fill="hold">
                        <p:stCondLst>
                          <p:cond delay="0"/>
                        </p:stCondLst>
                      </p:cTn>
                      <p:tgtEl>
                        <p:spTgt spid="11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</p:childTnLst>
              </p:cTn>
            </p:par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